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Stripe a trois besoins qu'aucune base ne satisfait seule : encaisser des millions de paiements par jour sans jamais en perdre un, analyser des années d'historique en secondes, et exploiter des logs, des sessions et des features de fraude dont le schéma change toutes les semaines. Ma réponse : trois systèmes spécialisés, un bus d'événements entre eux, et une règle — chaque donnée a une seule source de vérité et n'est jamais ressaisie. Tout ce que je vais montrer est exécutable ; les données sont synthétiques, et les volumes sont ceux d'une démo.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10. PostgreSQL pour l'argent : 13 tables en 3NF, partitionnées par mois, ACID, clé d'idempotence, standby synchrone — RPO 0, RTO sous la minute. Le chargeback n'est pas un statut, c'est une entité. Redshift pour l'analyse : star schema Kimball, grain = une transaction, SCD Type 2, DISTKEY sur le merchant, dimensions répliquées sur chaque nœud. MongoDB pour le contexte : logs en time-series avec TTL, sessions avec events embarqués, un document de features et de prédiction par transaction ; schéma validé. Kafka au milieu : Debezium lit le WAL, publie en moins de 500 ms, PII exclues à la source. dbt transforme, Airflow orchestre. Phrase : les faits d'argent en SQL, le contexte en documents, l'analyse en colonnes — et jamais une donnée écrite deux fois à la main.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30. Un merchant appelle POST /charges. En moins de 10 ms, la transaction est écrite dans PostgreSQL — ACID, clé d'idempotence : un rejeu réseau ne débitera jamais deux fois. En moins de 500 ms, Debezium l'a lue dans le WAL et publiée sur Kafka, ordonnée par merchant. Le service de scoring la consomme : features en ligne dans Redis, règles dures, XGBoost — décision en 115 ms nominal, 200 ms de budget, et si le service est lent, les règles seules décident. La prédiction et ses trois facteurs SHAP sont écrits dans MongoDB, l'indicateur de fraude dans PostgreSQL. Cinq minutes plus tard, dbt a fait la ligne du star schema — en MERGE, donc idempotent. Et quarante-cinq jours plus tard, un chargeback arrive : il devient le label de cette transaction, et le modèle réapprend dessus la semaine suivante.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Conformité : aucun numéro de carte nulle part — tokenisation, le vault est hors du périmètre. L'email et l'IP ne quittent jamais PostgreSQL : exclus du CDC par configuration, hachés ou tronqués dans l'entrepôt, chiffrés au champ dans Mongo. La table d'audit refuse UPDATE et DELETE par trigger. Un test casse le pipeline si un email en clair arrive dans les marts. Le droit à l'oubli est un DAG : il détache l'identité sans supprimer les faits financiers. ML : le modèle ne décide pas seul — règles dures avant, revue humaine dans la zone grise. Les analystes produisent des labels, parce qu'une transaction bloquée n'est jamais contestée. Déploiement shadow, canary, production ; trois dérives surveillées. Phrase : un rapport de conformité, ici, c'est la sortie d'un contrôle automatisé — pas un document qu'on rédige.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Le pipeline tourne en production sur AWS : Terraform déploie RDS PostgreSQL, une instance EC2 avec Airflow et MongoDB, et S3 ; le DAG enchaîne génération, chargement des trois systèmes, dix contrôles de cohérence inter-systèmes, les trente requêtes, le modèle et l'archivage — en vingt-cinq secondes, chaque nuit. La vidéo le montre. Le dépôt contient les schémas et leurs DDL, les trente requêtes exécutées, le connecteur Debezium, les modèles dbt et un XGBoost à 0,43 d'AUC-PR contre 0,09 de baseline. L'entrepôt de production est PostgreSQL et non Redshift — même modèle, mêmes requêtes ; c'est un changement de connexion, pas de conception. Je suis à votre disposition. — Puis se taire.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0972800" cy="320040"/>
          </a:xfrm>
          <a:prstGeom prst="rect">
            <a:avLst/>
          </a:prstGeom>
          <a:noFill/>
        </p:spPr>
        <p:txBody>
          <a:bodyPr wrap="square" anchor="t" lIns="45720" rIns="45720" tIns="18288" bIns="18288">
            <a:spAutoFit/>
          </a:bodyPr>
          <a:lstStyle/>
          <a:p>
            <a:pPr algn="l"/>
            <a:r>
              <a:rPr sz="1200" b="1" i="0">
                <a:solidFill>
                  <a:srgbClr val="00B4D8"/>
                </a:solidFill>
                <a:latin typeface="Calibri"/>
              </a:rPr>
              <a:t>STRIPE · BUSINESS CASE DATA ENGINEERING</a:t>
            </a:r>
          </a:p>
        </p:txBody>
      </p:sp>
      <p:sp>
        <p:nvSpPr>
          <p:cNvPr id="4" name="TextBox 3"/>
          <p:cNvSpPr txBox="1"/>
          <p:nvPr/>
        </p:nvSpPr>
        <p:spPr>
          <a:xfrm>
            <a:off x="548640" y="868680"/>
            <a:ext cx="11064240" cy="914400"/>
          </a:xfrm>
          <a:prstGeom prst="rect">
            <a:avLst/>
          </a:prstGeom>
          <a:noFill/>
        </p:spPr>
        <p:txBody>
          <a:bodyPr wrap="square" anchor="t" lIns="45720" rIns="45720" tIns="18288" bIns="18288">
            <a:spAutoFit/>
          </a:bodyPr>
          <a:lstStyle/>
          <a:p>
            <a:pPr algn="l"/>
            <a:r>
              <a:rPr sz="3800" b="1" i="0">
                <a:solidFill>
                  <a:srgbClr val="FFFFFF"/>
                </a:solidFill>
                <a:latin typeface="Calibri"/>
              </a:rPr>
              <a:t>Une architecture de données OLTP · OLAP · NoSQL</a:t>
            </a:r>
          </a:p>
        </p:txBody>
      </p:sp>
      <p:sp>
        <p:nvSpPr>
          <p:cNvPr id="5" name="TextBox 4"/>
          <p:cNvSpPr txBox="1"/>
          <p:nvPr/>
        </p:nvSpPr>
        <p:spPr>
          <a:xfrm>
            <a:off x="548640" y="1783080"/>
            <a:ext cx="10515600" cy="640080"/>
          </a:xfrm>
          <a:prstGeom prst="rect">
            <a:avLst/>
          </a:prstGeom>
          <a:noFill/>
        </p:spPr>
        <p:txBody>
          <a:bodyPr wrap="square" anchor="t" lIns="45720" rIns="45720" tIns="18288" bIns="18288">
            <a:spAutoFit/>
          </a:bodyPr>
          <a:lstStyle/>
          <a:p>
            <a:pPr algn="l"/>
            <a:r>
              <a:rPr sz="1600" b="0" i="0">
                <a:solidFill>
                  <a:srgbClr val="C9D6E5"/>
                </a:solidFill>
                <a:latin typeface="Calibri"/>
              </a:rPr>
              <a:t>Trois besoins qu'aucune base ne satisfait seule — trois systèmes spécialisés, un bus d'événements, une seule source de vérité.</a:t>
            </a:r>
          </a:p>
        </p:txBody>
      </p:sp>
      <p:sp>
        <p:nvSpPr>
          <p:cNvPr id="6" name="Rounded Rectangle 5"/>
          <p:cNvSpPr/>
          <p:nvPr/>
        </p:nvSpPr>
        <p:spPr>
          <a:xfrm>
            <a:off x="548640" y="2743200"/>
            <a:ext cx="3566160" cy="2331720"/>
          </a:xfrm>
          <a:prstGeom prst="roundRect">
            <a:avLst>
              <a:gd name="adj" fmla="val 8000"/>
            </a:avLst>
          </a:prstGeom>
          <a:solidFill>
            <a:srgbClr val="143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926080"/>
            <a:ext cx="3108960" cy="457200"/>
          </a:xfrm>
          <a:prstGeom prst="rect">
            <a:avLst/>
          </a:prstGeom>
          <a:noFill/>
        </p:spPr>
        <p:txBody>
          <a:bodyPr wrap="square" anchor="t" lIns="45720" rIns="45720" tIns="18288" bIns="18288">
            <a:spAutoFit/>
          </a:bodyPr>
          <a:lstStyle/>
          <a:p>
            <a:pPr algn="l"/>
            <a:r>
              <a:rPr sz="2200" b="1" i="0">
                <a:solidFill>
                  <a:srgbClr val="00B4D8"/>
                </a:solidFill>
                <a:latin typeface="Calibri"/>
              </a:rPr>
              <a:t>Encaisser</a:t>
            </a:r>
          </a:p>
        </p:txBody>
      </p:sp>
      <p:sp>
        <p:nvSpPr>
          <p:cNvPr id="8" name="TextBox 7"/>
          <p:cNvSpPr txBox="1"/>
          <p:nvPr/>
        </p:nvSpPr>
        <p:spPr>
          <a:xfrm>
            <a:off x="777240" y="3429000"/>
            <a:ext cx="3108960" cy="1005840"/>
          </a:xfrm>
          <a:prstGeom prst="rect">
            <a:avLst/>
          </a:prstGeom>
          <a:noFill/>
        </p:spPr>
        <p:txBody>
          <a:bodyPr wrap="square" anchor="t" lIns="45720" rIns="45720" tIns="18288" bIns="18288">
            <a:spAutoFit/>
          </a:bodyPr>
          <a:lstStyle/>
          <a:p>
            <a:pPr algn="l"/>
            <a:r>
              <a:rPr sz="1300" b="0" i="0">
                <a:solidFill>
                  <a:srgbClr val="FFFFFF"/>
                </a:solidFill>
                <a:latin typeface="Calibri"/>
              </a:rPr>
              <a:t>des millions de paiements par jour sans jamais en perdre un</a:t>
            </a:r>
          </a:p>
        </p:txBody>
      </p:sp>
      <p:sp>
        <p:nvSpPr>
          <p:cNvPr id="9" name="TextBox 8"/>
          <p:cNvSpPr txBox="1"/>
          <p:nvPr/>
        </p:nvSpPr>
        <p:spPr>
          <a:xfrm>
            <a:off x="777240" y="4526280"/>
            <a:ext cx="3108960" cy="365760"/>
          </a:xfrm>
          <a:prstGeom prst="rect">
            <a:avLst/>
          </a:prstGeom>
          <a:noFill/>
        </p:spPr>
        <p:txBody>
          <a:bodyPr wrap="square" anchor="t" lIns="45720" rIns="45720" tIns="18288" bIns="18288">
            <a:spAutoFit/>
          </a:bodyPr>
          <a:lstStyle/>
          <a:p>
            <a:pPr algn="l"/>
            <a:r>
              <a:rPr sz="1100" b="1" i="0">
                <a:solidFill>
                  <a:srgbClr val="00B4D8"/>
                </a:solidFill>
                <a:latin typeface="Calibri"/>
              </a:rPr>
              <a:t>OLTP · PostgreSQL</a:t>
            </a:r>
          </a:p>
        </p:txBody>
      </p:sp>
      <p:sp>
        <p:nvSpPr>
          <p:cNvPr id="10" name="Rounded Rectangle 9"/>
          <p:cNvSpPr/>
          <p:nvPr/>
        </p:nvSpPr>
        <p:spPr>
          <a:xfrm>
            <a:off x="4297679" y="2743200"/>
            <a:ext cx="3566160" cy="2331720"/>
          </a:xfrm>
          <a:prstGeom prst="roundRect">
            <a:avLst>
              <a:gd name="adj" fmla="val 8000"/>
            </a:avLst>
          </a:prstGeom>
          <a:solidFill>
            <a:srgbClr val="143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79" y="2926080"/>
            <a:ext cx="3108960" cy="457200"/>
          </a:xfrm>
          <a:prstGeom prst="rect">
            <a:avLst/>
          </a:prstGeom>
          <a:noFill/>
        </p:spPr>
        <p:txBody>
          <a:bodyPr wrap="square" anchor="t" lIns="45720" rIns="45720" tIns="18288" bIns="18288">
            <a:spAutoFit/>
          </a:bodyPr>
          <a:lstStyle/>
          <a:p>
            <a:pPr algn="l"/>
            <a:r>
              <a:rPr sz="2200" b="1" i="0">
                <a:solidFill>
                  <a:srgbClr val="15BE53"/>
                </a:solidFill>
                <a:latin typeface="Calibri"/>
              </a:rPr>
              <a:t>Analyser</a:t>
            </a:r>
          </a:p>
        </p:txBody>
      </p:sp>
      <p:sp>
        <p:nvSpPr>
          <p:cNvPr id="12" name="TextBox 11"/>
          <p:cNvSpPr txBox="1"/>
          <p:nvPr/>
        </p:nvSpPr>
        <p:spPr>
          <a:xfrm>
            <a:off x="4526279" y="3429000"/>
            <a:ext cx="3108960" cy="1005840"/>
          </a:xfrm>
          <a:prstGeom prst="rect">
            <a:avLst/>
          </a:prstGeom>
          <a:noFill/>
        </p:spPr>
        <p:txBody>
          <a:bodyPr wrap="square" anchor="t" lIns="45720" rIns="45720" tIns="18288" bIns="18288">
            <a:spAutoFit/>
          </a:bodyPr>
          <a:lstStyle/>
          <a:p>
            <a:pPr algn="l"/>
            <a:r>
              <a:rPr sz="1300" b="0" i="0">
                <a:solidFill>
                  <a:srgbClr val="FFFFFF"/>
                </a:solidFill>
                <a:latin typeface="Calibri"/>
              </a:rPr>
              <a:t>des années d'historique en secondes, sur toutes les dimensions</a:t>
            </a:r>
          </a:p>
        </p:txBody>
      </p:sp>
      <p:sp>
        <p:nvSpPr>
          <p:cNvPr id="13" name="TextBox 12"/>
          <p:cNvSpPr txBox="1"/>
          <p:nvPr/>
        </p:nvSpPr>
        <p:spPr>
          <a:xfrm>
            <a:off x="4526279" y="4526280"/>
            <a:ext cx="3108960" cy="365760"/>
          </a:xfrm>
          <a:prstGeom prst="rect">
            <a:avLst/>
          </a:prstGeom>
          <a:noFill/>
        </p:spPr>
        <p:txBody>
          <a:bodyPr wrap="square" anchor="t" lIns="45720" rIns="45720" tIns="18288" bIns="18288">
            <a:spAutoFit/>
          </a:bodyPr>
          <a:lstStyle/>
          <a:p>
            <a:pPr algn="l"/>
            <a:r>
              <a:rPr sz="1100" b="1" i="0">
                <a:solidFill>
                  <a:srgbClr val="15BE53"/>
                </a:solidFill>
                <a:latin typeface="Calibri"/>
              </a:rPr>
              <a:t>OLAP · star schema</a:t>
            </a:r>
          </a:p>
        </p:txBody>
      </p:sp>
      <p:sp>
        <p:nvSpPr>
          <p:cNvPr id="14" name="Rounded Rectangle 13"/>
          <p:cNvSpPr/>
          <p:nvPr/>
        </p:nvSpPr>
        <p:spPr>
          <a:xfrm>
            <a:off x="8046719" y="2743200"/>
            <a:ext cx="3566160" cy="2331720"/>
          </a:xfrm>
          <a:prstGeom prst="roundRect">
            <a:avLst>
              <a:gd name="adj" fmla="val 8000"/>
            </a:avLst>
          </a:prstGeom>
          <a:solidFill>
            <a:srgbClr val="143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19" y="2926080"/>
            <a:ext cx="3108960" cy="457200"/>
          </a:xfrm>
          <a:prstGeom prst="rect">
            <a:avLst/>
          </a:prstGeom>
          <a:noFill/>
        </p:spPr>
        <p:txBody>
          <a:bodyPr wrap="square" anchor="t" lIns="45720" rIns="45720" tIns="18288" bIns="18288">
            <a:spAutoFit/>
          </a:bodyPr>
          <a:lstStyle/>
          <a:p>
            <a:pPr algn="l"/>
            <a:r>
              <a:rPr sz="2200" b="1" i="0">
                <a:solidFill>
                  <a:srgbClr val="F58A07"/>
                </a:solidFill>
                <a:latin typeface="Calibri"/>
              </a:rPr>
              <a:t>Exploiter</a:t>
            </a:r>
          </a:p>
        </p:txBody>
      </p:sp>
      <p:sp>
        <p:nvSpPr>
          <p:cNvPr id="16" name="TextBox 15"/>
          <p:cNvSpPr txBox="1"/>
          <p:nvPr/>
        </p:nvSpPr>
        <p:spPr>
          <a:xfrm>
            <a:off x="8275319" y="3429000"/>
            <a:ext cx="3108960" cy="1005840"/>
          </a:xfrm>
          <a:prstGeom prst="rect">
            <a:avLst/>
          </a:prstGeom>
          <a:noFill/>
        </p:spPr>
        <p:txBody>
          <a:bodyPr wrap="square" anchor="t" lIns="45720" rIns="45720" tIns="18288" bIns="18288">
            <a:spAutoFit/>
          </a:bodyPr>
          <a:lstStyle/>
          <a:p>
            <a:pPr algn="l"/>
            <a:r>
              <a:rPr sz="1300" b="0" i="0">
                <a:solidFill>
                  <a:srgbClr val="FFFFFF"/>
                </a:solidFill>
                <a:latin typeface="Calibri"/>
              </a:rPr>
              <a:t>logs, sessions et features de fraude dont le schéma change chaque semaine</a:t>
            </a:r>
          </a:p>
        </p:txBody>
      </p:sp>
      <p:sp>
        <p:nvSpPr>
          <p:cNvPr id="17" name="TextBox 16"/>
          <p:cNvSpPr txBox="1"/>
          <p:nvPr/>
        </p:nvSpPr>
        <p:spPr>
          <a:xfrm>
            <a:off x="8275319" y="4526280"/>
            <a:ext cx="3108960" cy="365760"/>
          </a:xfrm>
          <a:prstGeom prst="rect">
            <a:avLst/>
          </a:prstGeom>
          <a:noFill/>
        </p:spPr>
        <p:txBody>
          <a:bodyPr wrap="square" anchor="t" lIns="45720" rIns="45720" tIns="18288" bIns="18288">
            <a:spAutoFit/>
          </a:bodyPr>
          <a:lstStyle/>
          <a:p>
            <a:pPr algn="l"/>
            <a:r>
              <a:rPr sz="1100" b="1" i="0">
                <a:solidFill>
                  <a:srgbClr val="F58A07"/>
                </a:solidFill>
                <a:latin typeface="Calibri"/>
              </a:rPr>
              <a:t>NoSQL · MongoDB</a:t>
            </a:r>
          </a:p>
        </p:txBody>
      </p:sp>
      <p:sp>
        <p:nvSpPr>
          <p:cNvPr id="18" name="TextBox 17"/>
          <p:cNvSpPr txBox="1"/>
          <p:nvPr/>
        </p:nvSpPr>
        <p:spPr>
          <a:xfrm>
            <a:off x="548640" y="5394960"/>
            <a:ext cx="10972800" cy="457200"/>
          </a:xfrm>
          <a:prstGeom prst="rect">
            <a:avLst/>
          </a:prstGeom>
          <a:noFill/>
        </p:spPr>
        <p:txBody>
          <a:bodyPr wrap="square" anchor="t" lIns="45720" rIns="45720" tIns="18288" bIns="18288">
            <a:spAutoFit/>
          </a:bodyPr>
          <a:lstStyle/>
          <a:p>
            <a:pPr algn="l"/>
            <a:r>
              <a:rPr sz="1300" b="1" i="0">
                <a:solidFill>
                  <a:srgbClr val="00B4D8"/>
                </a:solidFill>
                <a:latin typeface="Calibri"/>
              </a:rPr>
              <a:t>Données synthétiques, volumes de démo. </a:t>
            </a:r>
            <a:r>
              <a:rPr sz="1300" b="0" i="0">
                <a:solidFill>
                  <a:srgbClr val="C9D6E5"/>
                </a:solidFill>
                <a:latin typeface="Calibri"/>
              </a:rPr>
              <a:t>Tout ce qui suit est exécuté — en local et en production sur AWS.</a:t>
            </a:r>
          </a:p>
        </p:txBody>
      </p:sp>
      <p:sp>
        <p:nvSpPr>
          <p:cNvPr id="19" name="TextBox 18"/>
          <p:cNvSpPr txBox="1"/>
          <p:nvPr/>
        </p:nvSpPr>
        <p:spPr>
          <a:xfrm>
            <a:off x="548640" y="5943600"/>
            <a:ext cx="10972800" cy="365760"/>
          </a:xfrm>
          <a:prstGeom prst="rect">
            <a:avLst/>
          </a:prstGeom>
          <a:noFill/>
        </p:spPr>
        <p:txBody>
          <a:bodyPr wrap="square" anchor="t" lIns="45720" rIns="45720" tIns="18288" bIns="18288">
            <a:spAutoFit/>
          </a:bodyPr>
          <a:lstStyle/>
          <a:p>
            <a:pPr algn="l"/>
            <a:r>
              <a:rPr sz="1200" b="0" i="0">
                <a:solidFill>
                  <a:srgbClr val="9FB3C8"/>
                </a:solidFill>
                <a:latin typeface="Calibri"/>
              </a:rPr>
              <a:t>Emeline ROBLOT — Data Engineer · Septembre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274320"/>
          </a:xfrm>
          <a:prstGeom prst="rect">
            <a:avLst/>
          </a:prstGeom>
          <a:noFill/>
        </p:spPr>
        <p:txBody>
          <a:bodyPr wrap="square" anchor="t" lIns="45720" rIns="45720" tIns="18288" bIns="18288">
            <a:spAutoFit/>
          </a:bodyPr>
          <a:lstStyle/>
          <a:p>
            <a:pPr algn="l"/>
            <a:r>
              <a:rPr sz="1100" b="1" i="0">
                <a:solidFill>
                  <a:srgbClr val="635BFF"/>
                </a:solidFill>
                <a:latin typeface="Calibri"/>
              </a:rPr>
              <a:t>ARCHITECTURE</a:t>
            </a:r>
          </a:p>
        </p:txBody>
      </p:sp>
      <p:sp>
        <p:nvSpPr>
          <p:cNvPr id="4" name="TextBox 3"/>
          <p:cNvSpPr txBox="1"/>
          <p:nvPr/>
        </p:nvSpPr>
        <p:spPr>
          <a:xfrm>
            <a:off x="548640" y="548640"/>
            <a:ext cx="11064240" cy="822960"/>
          </a:xfrm>
          <a:prstGeom prst="rect">
            <a:avLst/>
          </a:prstGeom>
          <a:noFill/>
        </p:spPr>
        <p:txBody>
          <a:bodyPr wrap="square" anchor="t" lIns="45720" rIns="45720" tIns="18288" bIns="18288">
            <a:spAutoFit/>
          </a:bodyPr>
          <a:lstStyle/>
          <a:p>
            <a:pPr algn="l"/>
            <a:r>
              <a:rPr sz="3200" b="1" i="0">
                <a:solidFill>
                  <a:srgbClr val="0A2540"/>
                </a:solidFill>
                <a:latin typeface="Calibri"/>
              </a:rPr>
              <a:t>Chaque système fait ce qu'il fait le mieux — Kafka les relie</a:t>
            </a:r>
          </a:p>
        </p:txBody>
      </p:sp>
      <p:sp>
        <p:nvSpPr>
          <p:cNvPr id="5" name="Rounded Rectangle 4"/>
          <p:cNvSpPr/>
          <p:nvPr/>
        </p:nvSpPr>
        <p:spPr>
          <a:xfrm>
            <a:off x="548640" y="2057400"/>
            <a:ext cx="1554480" cy="822960"/>
          </a:xfrm>
          <a:prstGeom prst="roundRect">
            <a:avLst>
              <a:gd name="adj" fmla="val 12000"/>
            </a:avLst>
          </a:prstGeom>
          <a:solidFill>
            <a:srgbClr val="F6F9FC"/>
          </a:solidFill>
          <a:ln w="12700">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2130552"/>
            <a:ext cx="1408176" cy="310896"/>
          </a:xfrm>
          <a:prstGeom prst="rect">
            <a:avLst/>
          </a:prstGeom>
          <a:noFill/>
        </p:spPr>
        <p:txBody>
          <a:bodyPr wrap="square" anchor="t" lIns="45720" rIns="45720" tIns="18288" bIns="18288">
            <a:spAutoFit/>
          </a:bodyPr>
          <a:lstStyle/>
          <a:p>
            <a:pPr algn="ctr"/>
            <a:r>
              <a:rPr sz="1300" b="1" i="0">
                <a:solidFill>
                  <a:srgbClr val="1F2A44"/>
                </a:solidFill>
                <a:latin typeface="Calibri"/>
              </a:rPr>
              <a:t>API paiements</a:t>
            </a:r>
          </a:p>
        </p:txBody>
      </p:sp>
      <p:sp>
        <p:nvSpPr>
          <p:cNvPr id="7" name="TextBox 6"/>
          <p:cNvSpPr txBox="1"/>
          <p:nvPr/>
        </p:nvSpPr>
        <p:spPr>
          <a:xfrm>
            <a:off x="621792" y="2423160"/>
            <a:ext cx="1408176" cy="411480"/>
          </a:xfrm>
          <a:prstGeom prst="rect">
            <a:avLst/>
          </a:prstGeom>
          <a:noFill/>
        </p:spPr>
        <p:txBody>
          <a:bodyPr wrap="square" anchor="t" lIns="45720" rIns="45720" tIns="18288" bIns="18288">
            <a:spAutoFit/>
          </a:bodyPr>
          <a:lstStyle/>
          <a:p>
            <a:pPr algn="ctr"/>
            <a:r>
              <a:rPr sz="1000" b="0" i="0">
                <a:solidFill>
                  <a:srgbClr val="6B7C93"/>
                </a:solidFill>
                <a:latin typeface="Calibri"/>
              </a:rPr>
              <a:t>charges · refunds · disputes</a:t>
            </a:r>
          </a:p>
        </p:txBody>
      </p:sp>
      <p:sp>
        <p:nvSpPr>
          <p:cNvPr id="8" name="Rounded Rectangle 7"/>
          <p:cNvSpPr/>
          <p:nvPr/>
        </p:nvSpPr>
        <p:spPr>
          <a:xfrm>
            <a:off x="2651760" y="1920240"/>
            <a:ext cx="2103120" cy="1097280"/>
          </a:xfrm>
          <a:prstGeom prst="roundRect">
            <a:avLst>
              <a:gd name="adj" fmla="val 12000"/>
            </a:avLst>
          </a:prstGeom>
          <a:solidFill>
            <a:srgbClr val="E6F7FB"/>
          </a:solidFill>
          <a:ln w="12700">
            <a:solidFill>
              <a:srgbClr val="00B4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24912" y="1993392"/>
            <a:ext cx="1956815" cy="310896"/>
          </a:xfrm>
          <a:prstGeom prst="rect">
            <a:avLst/>
          </a:prstGeom>
          <a:noFill/>
        </p:spPr>
        <p:txBody>
          <a:bodyPr wrap="square" anchor="t" lIns="45720" rIns="45720" tIns="18288" bIns="18288">
            <a:spAutoFit/>
          </a:bodyPr>
          <a:lstStyle/>
          <a:p>
            <a:pPr algn="ctr"/>
            <a:r>
              <a:rPr sz="1300" b="1" i="0">
                <a:solidFill>
                  <a:srgbClr val="0A2540"/>
                </a:solidFill>
                <a:latin typeface="Calibri"/>
              </a:rPr>
              <a:t>PostgreSQL 16 — OLTP</a:t>
            </a:r>
          </a:p>
        </p:txBody>
      </p:sp>
      <p:sp>
        <p:nvSpPr>
          <p:cNvPr id="10" name="TextBox 9"/>
          <p:cNvSpPr txBox="1"/>
          <p:nvPr/>
        </p:nvSpPr>
        <p:spPr>
          <a:xfrm>
            <a:off x="2724912" y="2286000"/>
            <a:ext cx="1956815" cy="685800"/>
          </a:xfrm>
          <a:prstGeom prst="rect">
            <a:avLst/>
          </a:prstGeom>
          <a:noFill/>
        </p:spPr>
        <p:txBody>
          <a:bodyPr wrap="square" anchor="t" lIns="45720" rIns="45720" tIns="18288" bIns="18288">
            <a:spAutoFit/>
          </a:bodyPr>
          <a:lstStyle/>
          <a:p>
            <a:pPr algn="ctr"/>
            <a:r>
              <a:rPr sz="1000" b="0" i="0">
                <a:solidFill>
                  <a:srgbClr val="6B7C93"/>
                </a:solidFill>
                <a:latin typeface="Calibri"/>
              </a:rPr>
              <a:t>13 tables 3NF · partitions · ACID
idempotency_key · standby sync</a:t>
            </a:r>
          </a:p>
        </p:txBody>
      </p:sp>
      <p:sp>
        <p:nvSpPr>
          <p:cNvPr id="11" name="Rounded Rectangle 10"/>
          <p:cNvSpPr/>
          <p:nvPr/>
        </p:nvSpPr>
        <p:spPr>
          <a:xfrm>
            <a:off x="5303520" y="1920240"/>
            <a:ext cx="1737360" cy="1097280"/>
          </a:xfrm>
          <a:prstGeom prst="roundRect">
            <a:avLst>
              <a:gd name="adj" fmla="val 12000"/>
            </a:avLst>
          </a:prstGeom>
          <a:solidFill>
            <a:srgbClr val="EEECFF"/>
          </a:solidFill>
          <a:ln w="12700">
            <a:solidFill>
              <a:srgbClr val="635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76672" y="1993392"/>
            <a:ext cx="1591056" cy="310896"/>
          </a:xfrm>
          <a:prstGeom prst="rect">
            <a:avLst/>
          </a:prstGeom>
          <a:noFill/>
        </p:spPr>
        <p:txBody>
          <a:bodyPr wrap="square" anchor="t" lIns="45720" rIns="45720" tIns="18288" bIns="18288">
            <a:spAutoFit/>
          </a:bodyPr>
          <a:lstStyle/>
          <a:p>
            <a:pPr algn="ctr"/>
            <a:r>
              <a:rPr sz="1300" b="1" i="0">
                <a:solidFill>
                  <a:srgbClr val="0A2540"/>
                </a:solidFill>
                <a:latin typeface="Calibri"/>
              </a:rPr>
              <a:t>Debezium → Kafka</a:t>
            </a:r>
          </a:p>
        </p:txBody>
      </p:sp>
      <p:sp>
        <p:nvSpPr>
          <p:cNvPr id="13" name="TextBox 12"/>
          <p:cNvSpPr txBox="1"/>
          <p:nvPr/>
        </p:nvSpPr>
        <p:spPr>
          <a:xfrm>
            <a:off x="5376672" y="2286000"/>
            <a:ext cx="1591056" cy="685800"/>
          </a:xfrm>
          <a:prstGeom prst="rect">
            <a:avLst/>
          </a:prstGeom>
          <a:noFill/>
        </p:spPr>
        <p:txBody>
          <a:bodyPr wrap="square" anchor="t" lIns="45720" rIns="45720" tIns="18288" bIns="18288">
            <a:spAutoFit/>
          </a:bodyPr>
          <a:lstStyle/>
          <a:p>
            <a:pPr algn="ctr"/>
            <a:r>
              <a:rPr sz="1000" b="0" i="0">
                <a:solidFill>
                  <a:srgbClr val="6B7C93"/>
                </a:solidFill>
                <a:latin typeface="Calibri"/>
              </a:rPr>
              <a:t>CDC sur le WAL · &lt; 500 ms
PII exclues à la source</a:t>
            </a:r>
          </a:p>
        </p:txBody>
      </p:sp>
      <p:sp>
        <p:nvSpPr>
          <p:cNvPr id="14" name="Rounded Rectangle 13"/>
          <p:cNvSpPr/>
          <p:nvPr/>
        </p:nvSpPr>
        <p:spPr>
          <a:xfrm>
            <a:off x="7772400" y="1463040"/>
            <a:ext cx="2286000" cy="822960"/>
          </a:xfrm>
          <a:prstGeom prst="roundRect">
            <a:avLst>
              <a:gd name="adj" fmla="val 12000"/>
            </a:avLst>
          </a:prstGeom>
          <a:solidFill>
            <a:srgbClr val="FFF1E0"/>
          </a:solidFill>
          <a:ln w="12700">
            <a:solidFill>
              <a:srgbClr val="F58A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45552" y="1536192"/>
            <a:ext cx="2139696" cy="310896"/>
          </a:xfrm>
          <a:prstGeom prst="rect">
            <a:avLst/>
          </a:prstGeom>
          <a:noFill/>
        </p:spPr>
        <p:txBody>
          <a:bodyPr wrap="square" anchor="t" lIns="45720" rIns="45720" tIns="18288" bIns="18288">
            <a:spAutoFit/>
          </a:bodyPr>
          <a:lstStyle/>
          <a:p>
            <a:pPr algn="ctr"/>
            <a:r>
              <a:rPr sz="1300" b="1" i="0">
                <a:solidFill>
                  <a:srgbClr val="0A2540"/>
                </a:solidFill>
                <a:latin typeface="Calibri"/>
              </a:rPr>
              <a:t>Scoring fraude</a:t>
            </a:r>
          </a:p>
        </p:txBody>
      </p:sp>
      <p:sp>
        <p:nvSpPr>
          <p:cNvPr id="16" name="TextBox 15"/>
          <p:cNvSpPr txBox="1"/>
          <p:nvPr/>
        </p:nvSpPr>
        <p:spPr>
          <a:xfrm>
            <a:off x="7845552" y="1828800"/>
            <a:ext cx="2139696" cy="411480"/>
          </a:xfrm>
          <a:prstGeom prst="rect">
            <a:avLst/>
          </a:prstGeom>
          <a:noFill/>
        </p:spPr>
        <p:txBody>
          <a:bodyPr wrap="square" anchor="t" lIns="45720" rIns="45720" tIns="18288" bIns="18288">
            <a:spAutoFit/>
          </a:bodyPr>
          <a:lstStyle/>
          <a:p>
            <a:pPr algn="ctr"/>
            <a:r>
              <a:rPr sz="1000" b="0" i="0">
                <a:solidFill>
                  <a:srgbClr val="6B7C93"/>
                </a:solidFill>
                <a:latin typeface="Calibri"/>
              </a:rPr>
              <a:t>Redis + règles + XGBoost · &lt; 200 ms</a:t>
            </a:r>
          </a:p>
        </p:txBody>
      </p:sp>
      <p:sp>
        <p:nvSpPr>
          <p:cNvPr id="17" name="Rounded Rectangle 16"/>
          <p:cNvSpPr/>
          <p:nvPr/>
        </p:nvSpPr>
        <p:spPr>
          <a:xfrm>
            <a:off x="7772400" y="2560320"/>
            <a:ext cx="2286000" cy="822960"/>
          </a:xfrm>
          <a:prstGeom prst="roundRect">
            <a:avLst>
              <a:gd name="adj" fmla="val 12000"/>
            </a:avLst>
          </a:prstGeom>
          <a:solidFill>
            <a:srgbClr val="FFF1E0"/>
          </a:solidFill>
          <a:ln w="12700">
            <a:solidFill>
              <a:srgbClr val="F58A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45552" y="2633472"/>
            <a:ext cx="2139696" cy="310896"/>
          </a:xfrm>
          <a:prstGeom prst="rect">
            <a:avLst/>
          </a:prstGeom>
          <a:noFill/>
        </p:spPr>
        <p:txBody>
          <a:bodyPr wrap="square" anchor="t" lIns="45720" rIns="45720" tIns="18288" bIns="18288">
            <a:spAutoFit/>
          </a:bodyPr>
          <a:lstStyle/>
          <a:p>
            <a:pPr algn="ctr"/>
            <a:r>
              <a:rPr sz="1300" b="1" i="0">
                <a:solidFill>
                  <a:srgbClr val="0A2540"/>
                </a:solidFill>
                <a:latin typeface="Calibri"/>
              </a:rPr>
              <a:t>MongoDB 7 — NoSQL</a:t>
            </a:r>
          </a:p>
        </p:txBody>
      </p:sp>
      <p:sp>
        <p:nvSpPr>
          <p:cNvPr id="19" name="TextBox 18"/>
          <p:cNvSpPr txBox="1"/>
          <p:nvPr/>
        </p:nvSpPr>
        <p:spPr>
          <a:xfrm>
            <a:off x="7845552" y="2926079"/>
            <a:ext cx="2139696" cy="411480"/>
          </a:xfrm>
          <a:prstGeom prst="rect">
            <a:avLst/>
          </a:prstGeom>
          <a:noFill/>
        </p:spPr>
        <p:txBody>
          <a:bodyPr wrap="square" anchor="t" lIns="45720" rIns="45720" tIns="18288" bIns="18288">
            <a:spAutoFit/>
          </a:bodyPr>
          <a:lstStyle/>
          <a:p>
            <a:pPr algn="ctr"/>
            <a:r>
              <a:rPr sz="1000" b="0" i="0">
                <a:solidFill>
                  <a:srgbClr val="6B7C93"/>
                </a:solidFill>
                <a:latin typeface="Calibri"/>
              </a:rPr>
              <a:t>logs time-series · sessions · ml_features</a:t>
            </a:r>
          </a:p>
        </p:txBody>
      </p:sp>
      <p:sp>
        <p:nvSpPr>
          <p:cNvPr id="20" name="Rounded Rectangle 19"/>
          <p:cNvSpPr/>
          <p:nvPr/>
        </p:nvSpPr>
        <p:spPr>
          <a:xfrm>
            <a:off x="7772400" y="3657600"/>
            <a:ext cx="2286000" cy="822960"/>
          </a:xfrm>
          <a:prstGeom prst="roundRect">
            <a:avLst>
              <a:gd name="adj" fmla="val 12000"/>
            </a:avLst>
          </a:prstGeom>
          <a:solidFill>
            <a:srgbClr val="E8F8EE"/>
          </a:solidFill>
          <a:ln w="12700">
            <a:solidFill>
              <a:srgbClr val="15BE5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45552" y="3730752"/>
            <a:ext cx="2139696" cy="310896"/>
          </a:xfrm>
          <a:prstGeom prst="rect">
            <a:avLst/>
          </a:prstGeom>
          <a:noFill/>
        </p:spPr>
        <p:txBody>
          <a:bodyPr wrap="square" anchor="t" lIns="45720" rIns="45720" tIns="18288" bIns="18288">
            <a:spAutoFit/>
          </a:bodyPr>
          <a:lstStyle/>
          <a:p>
            <a:pPr algn="ctr"/>
            <a:r>
              <a:rPr sz="1300" b="1" i="0">
                <a:solidFill>
                  <a:srgbClr val="0A2540"/>
                </a:solidFill>
                <a:latin typeface="Calibri"/>
              </a:rPr>
              <a:t>S3 → dbt → Redshift</a:t>
            </a:r>
          </a:p>
        </p:txBody>
      </p:sp>
      <p:sp>
        <p:nvSpPr>
          <p:cNvPr id="22" name="TextBox 21"/>
          <p:cNvSpPr txBox="1"/>
          <p:nvPr/>
        </p:nvSpPr>
        <p:spPr>
          <a:xfrm>
            <a:off x="7845552" y="4023360"/>
            <a:ext cx="2139696" cy="411480"/>
          </a:xfrm>
          <a:prstGeom prst="rect">
            <a:avLst/>
          </a:prstGeom>
          <a:noFill/>
        </p:spPr>
        <p:txBody>
          <a:bodyPr wrap="square" anchor="t" lIns="45720" rIns="45720" tIns="18288" bIns="18288">
            <a:spAutoFit/>
          </a:bodyPr>
          <a:lstStyle/>
          <a:p>
            <a:pPr algn="ctr"/>
            <a:r>
              <a:rPr sz="1000" b="0" i="0">
                <a:solidFill>
                  <a:srgbClr val="6B7C93"/>
                </a:solidFill>
                <a:latin typeface="Calibri"/>
              </a:rPr>
              <a:t>star schema · SCD2 · MV · &lt; 5 min</a:t>
            </a:r>
          </a:p>
        </p:txBody>
      </p:sp>
      <p:sp>
        <p:nvSpPr>
          <p:cNvPr id="23" name="Rounded Rectangle 22"/>
          <p:cNvSpPr/>
          <p:nvPr/>
        </p:nvSpPr>
        <p:spPr>
          <a:xfrm>
            <a:off x="10332720" y="3657600"/>
            <a:ext cx="1325880" cy="822960"/>
          </a:xfrm>
          <a:prstGeom prst="roundRect">
            <a:avLst>
              <a:gd name="adj" fmla="val 12000"/>
            </a:avLst>
          </a:prstGeom>
          <a:solidFill>
            <a:srgbClr val="F6F9FC"/>
          </a:solidFill>
          <a:ln w="12700">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405872" y="3657600"/>
            <a:ext cx="1179576" cy="822960"/>
          </a:xfrm>
          <a:prstGeom prst="rect">
            <a:avLst/>
          </a:prstGeom>
          <a:noFill/>
        </p:spPr>
        <p:txBody>
          <a:bodyPr wrap="square" anchor="ctr" lIns="45720" rIns="45720" tIns="18288" bIns="18288">
            <a:spAutoFit/>
          </a:bodyPr>
          <a:lstStyle/>
          <a:p>
            <a:pPr algn="ctr"/>
            <a:r>
              <a:rPr sz="1100" b="1" i="0">
                <a:solidFill>
                  <a:srgbClr val="1F2A44"/>
                </a:solidFill>
                <a:latin typeface="Calibri"/>
              </a:rPr>
              <a:t>BI · rapports
· ML</a:t>
            </a:r>
          </a:p>
        </p:txBody>
      </p:sp>
      <p:sp>
        <p:nvSpPr>
          <p:cNvPr id="25" name="Rounded Rectangle 24"/>
          <p:cNvSpPr/>
          <p:nvPr/>
        </p:nvSpPr>
        <p:spPr>
          <a:xfrm>
            <a:off x="5303520" y="3749039"/>
            <a:ext cx="1737360" cy="685800"/>
          </a:xfrm>
          <a:prstGeom prst="roundRect">
            <a:avLst>
              <a:gd name="adj" fmla="val 12000"/>
            </a:avLst>
          </a:prstGeom>
          <a:solidFill>
            <a:srgbClr val="F6F9FC"/>
          </a:solidFill>
          <a:ln w="12700">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76672" y="3822191"/>
            <a:ext cx="1591056" cy="310896"/>
          </a:xfrm>
          <a:prstGeom prst="rect">
            <a:avLst/>
          </a:prstGeom>
          <a:noFill/>
        </p:spPr>
        <p:txBody>
          <a:bodyPr wrap="square" anchor="t" lIns="45720" rIns="45720" tIns="18288" bIns="18288">
            <a:spAutoFit/>
          </a:bodyPr>
          <a:lstStyle/>
          <a:p>
            <a:pPr algn="ctr"/>
            <a:r>
              <a:rPr sz="1300" b="1" i="0">
                <a:solidFill>
                  <a:srgbClr val="1F2A44"/>
                </a:solidFill>
                <a:latin typeface="Calibri"/>
              </a:rPr>
              <a:t>Airflow</a:t>
            </a:r>
          </a:p>
        </p:txBody>
      </p:sp>
      <p:sp>
        <p:nvSpPr>
          <p:cNvPr id="27" name="TextBox 26"/>
          <p:cNvSpPr txBox="1"/>
          <p:nvPr/>
        </p:nvSpPr>
        <p:spPr>
          <a:xfrm>
            <a:off x="5376672" y="4114800"/>
            <a:ext cx="1591056" cy="274320"/>
          </a:xfrm>
          <a:prstGeom prst="rect">
            <a:avLst/>
          </a:prstGeom>
          <a:noFill/>
        </p:spPr>
        <p:txBody>
          <a:bodyPr wrap="square" anchor="t" lIns="45720" rIns="45720" tIns="18288" bIns="18288">
            <a:spAutoFit/>
          </a:bodyPr>
          <a:lstStyle/>
          <a:p>
            <a:pPr algn="ctr"/>
            <a:r>
              <a:rPr sz="1000" b="0" i="0">
                <a:solidFill>
                  <a:srgbClr val="6B7C93"/>
                </a:solidFill>
                <a:latin typeface="Calibri"/>
              </a:rPr>
              <a:t>batch · dbt · droits RGPD</a:t>
            </a:r>
          </a:p>
        </p:txBody>
      </p:sp>
      <p:cxnSp>
        <p:nvCxnSpPr>
          <p:cNvPr id="28" name="Connector 27"/>
          <p:cNvCxnSpPr/>
          <p:nvPr/>
        </p:nvCxnSpPr>
        <p:spPr>
          <a:xfrm>
            <a:off x="2103120" y="2468880"/>
            <a:ext cx="548640" cy="0"/>
          </a:xfrm>
          <a:prstGeom prst="line">
            <a:avLst/>
          </a:prstGeom>
          <a:ln w="19050">
            <a:solidFill>
              <a:srgbClr val="6B7C9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754880" y="2468880"/>
            <a:ext cx="548640" cy="0"/>
          </a:xfrm>
          <a:prstGeom prst="line">
            <a:avLst/>
          </a:prstGeom>
          <a:ln w="19050">
            <a:solidFill>
              <a:srgbClr val="6B7C9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7040880" y="1874519"/>
            <a:ext cx="731520" cy="411481"/>
          </a:xfrm>
          <a:prstGeom prst="line">
            <a:avLst/>
          </a:prstGeom>
          <a:ln w="19050">
            <a:solidFill>
              <a:srgbClr val="6B7C9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040880" y="2468880"/>
            <a:ext cx="731520" cy="502920"/>
          </a:xfrm>
          <a:prstGeom prst="line">
            <a:avLst/>
          </a:prstGeom>
          <a:ln w="19050">
            <a:solidFill>
              <a:srgbClr val="6B7C9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040880" y="2697480"/>
            <a:ext cx="731520" cy="1371600"/>
          </a:xfrm>
          <a:prstGeom prst="line">
            <a:avLst/>
          </a:prstGeom>
          <a:ln w="19050">
            <a:solidFill>
              <a:srgbClr val="6B7C9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058400" y="4069080"/>
            <a:ext cx="274320" cy="0"/>
          </a:xfrm>
          <a:prstGeom prst="line">
            <a:avLst/>
          </a:prstGeom>
          <a:ln w="19050">
            <a:solidFill>
              <a:srgbClr val="6B7C9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7040880" y="2834640"/>
            <a:ext cx="731520" cy="274320"/>
          </a:xfrm>
          <a:prstGeom prst="line">
            <a:avLst/>
          </a:prstGeom>
          <a:ln w="19050">
            <a:prstDash val="dash"/>
            <a:solidFill>
              <a:srgbClr val="F58A0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915400" y="2286000"/>
            <a:ext cx="0" cy="274320"/>
          </a:xfrm>
          <a:prstGeom prst="line">
            <a:avLst/>
          </a:prstGeom>
          <a:ln w="19050">
            <a:solidFill>
              <a:srgbClr val="F58A0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040880" y="4069080"/>
            <a:ext cx="731520" cy="137160"/>
          </a:xfrm>
          <a:prstGeom prst="line">
            <a:avLst/>
          </a:prstGeom>
          <a:ln w="19050">
            <a:prstDash val="dash"/>
            <a:solidFill>
              <a:srgbClr val="6B7C9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4572000" y="1691640"/>
            <a:ext cx="3200400" cy="228600"/>
          </a:xfrm>
          <a:prstGeom prst="line">
            <a:avLst/>
          </a:prstGeom>
          <a:ln w="19050">
            <a:prstDash val="dash"/>
            <a:solidFill>
              <a:srgbClr val="F58A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651760" y="1554480"/>
            <a:ext cx="2926080" cy="274320"/>
          </a:xfrm>
          <a:prstGeom prst="rect">
            <a:avLst/>
          </a:prstGeom>
          <a:noFill/>
        </p:spPr>
        <p:txBody>
          <a:bodyPr wrap="square" anchor="t" lIns="45720" rIns="45720" tIns="18288" bIns="18288">
            <a:spAutoFit/>
          </a:bodyPr>
          <a:lstStyle/>
          <a:p>
            <a:pPr algn="l"/>
            <a:r>
              <a:rPr sz="900" b="0" i="1">
                <a:solidFill>
                  <a:srgbClr val="6B7C93"/>
                </a:solidFill>
                <a:latin typeface="Calibri"/>
              </a:rPr>
              <a:t>← fraud_indicators (scoring → OLTP)</a:t>
            </a:r>
          </a:p>
        </p:txBody>
      </p:sp>
      <p:sp>
        <p:nvSpPr>
          <p:cNvPr id="39" name="TextBox 38"/>
          <p:cNvSpPr txBox="1"/>
          <p:nvPr/>
        </p:nvSpPr>
        <p:spPr>
          <a:xfrm>
            <a:off x="7818120" y="3401568"/>
            <a:ext cx="2194560" cy="256032"/>
          </a:xfrm>
          <a:prstGeom prst="rect">
            <a:avLst/>
          </a:prstGeom>
          <a:noFill/>
        </p:spPr>
        <p:txBody>
          <a:bodyPr wrap="square" anchor="t" lIns="45720" rIns="45720" tIns="18288" bIns="18288">
            <a:spAutoFit/>
          </a:bodyPr>
          <a:lstStyle/>
          <a:p>
            <a:pPr algn="l"/>
            <a:r>
              <a:rPr sz="900" b="0" i="1">
                <a:solidFill>
                  <a:srgbClr val="6B7C93"/>
                </a:solidFill>
                <a:latin typeface="Calibri"/>
              </a:rPr>
              <a:t>change streams → Kafka</a:t>
            </a:r>
          </a:p>
        </p:txBody>
      </p:sp>
      <p:sp>
        <p:nvSpPr>
          <p:cNvPr id="40" name="Rounded Rectangle 39"/>
          <p:cNvSpPr/>
          <p:nvPr/>
        </p:nvSpPr>
        <p:spPr>
          <a:xfrm>
            <a:off x="548640" y="4892040"/>
            <a:ext cx="3566160" cy="1325880"/>
          </a:xfrm>
          <a:prstGeom prst="roundRect">
            <a:avLst>
              <a:gd name="adj" fmla="val 8000"/>
            </a:avLst>
          </a:prstGeom>
          <a:solidFill>
            <a:srgbClr val="F6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5001768"/>
            <a:ext cx="3200400" cy="365760"/>
          </a:xfrm>
          <a:prstGeom prst="rect">
            <a:avLst/>
          </a:prstGeom>
          <a:noFill/>
        </p:spPr>
        <p:txBody>
          <a:bodyPr wrap="square" anchor="t" lIns="45720" rIns="45720" tIns="18288" bIns="18288">
            <a:spAutoFit/>
          </a:bodyPr>
          <a:lstStyle/>
          <a:p>
            <a:pPr algn="l"/>
            <a:r>
              <a:rPr sz="1400" b="1" i="0">
                <a:solidFill>
                  <a:srgbClr val="00B4D8"/>
                </a:solidFill>
                <a:latin typeface="Calibri"/>
              </a:rPr>
              <a:t>Les faits d'argent en SQL</a:t>
            </a:r>
          </a:p>
        </p:txBody>
      </p:sp>
      <p:sp>
        <p:nvSpPr>
          <p:cNvPr id="42" name="TextBox 41"/>
          <p:cNvSpPr txBox="1"/>
          <p:nvPr/>
        </p:nvSpPr>
        <p:spPr>
          <a:xfrm>
            <a:off x="731520" y="5394959"/>
            <a:ext cx="3200400" cy="777240"/>
          </a:xfrm>
          <a:prstGeom prst="rect">
            <a:avLst/>
          </a:prstGeom>
          <a:noFill/>
        </p:spPr>
        <p:txBody>
          <a:bodyPr wrap="square" anchor="t" lIns="45720" rIns="45720" tIns="18288" bIns="18288">
            <a:spAutoFit/>
          </a:bodyPr>
          <a:lstStyle/>
          <a:p>
            <a:pPr algn="l"/>
            <a:r>
              <a:rPr sz="1200" b="0" i="0">
                <a:solidFill>
                  <a:srgbClr val="1F2A44"/>
                </a:solidFill>
                <a:latin typeface="Calibri"/>
              </a:rPr>
              <a:t>Source de vérité unique, ACID, RPO 0 / RTO &lt; 60 s.</a:t>
            </a:r>
          </a:p>
        </p:txBody>
      </p:sp>
      <p:sp>
        <p:nvSpPr>
          <p:cNvPr id="43" name="Rounded Rectangle 42"/>
          <p:cNvSpPr/>
          <p:nvPr/>
        </p:nvSpPr>
        <p:spPr>
          <a:xfrm>
            <a:off x="4297679" y="4892040"/>
            <a:ext cx="3566160" cy="1325880"/>
          </a:xfrm>
          <a:prstGeom prst="roundRect">
            <a:avLst>
              <a:gd name="adj" fmla="val 8000"/>
            </a:avLst>
          </a:prstGeom>
          <a:solidFill>
            <a:srgbClr val="F6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480559" y="5001768"/>
            <a:ext cx="3200400" cy="365760"/>
          </a:xfrm>
          <a:prstGeom prst="rect">
            <a:avLst/>
          </a:prstGeom>
          <a:noFill/>
        </p:spPr>
        <p:txBody>
          <a:bodyPr wrap="square" anchor="t" lIns="45720" rIns="45720" tIns="18288" bIns="18288">
            <a:spAutoFit/>
          </a:bodyPr>
          <a:lstStyle/>
          <a:p>
            <a:pPr algn="l"/>
            <a:r>
              <a:rPr sz="1400" b="1" i="0">
                <a:solidFill>
                  <a:srgbClr val="F58A07"/>
                </a:solidFill>
                <a:latin typeface="Calibri"/>
              </a:rPr>
              <a:t>Le contexte en documents</a:t>
            </a:r>
          </a:p>
        </p:txBody>
      </p:sp>
      <p:sp>
        <p:nvSpPr>
          <p:cNvPr id="45" name="TextBox 44"/>
          <p:cNvSpPr txBox="1"/>
          <p:nvPr/>
        </p:nvSpPr>
        <p:spPr>
          <a:xfrm>
            <a:off x="4480559" y="5394959"/>
            <a:ext cx="3200400" cy="777240"/>
          </a:xfrm>
          <a:prstGeom prst="rect">
            <a:avLst/>
          </a:prstGeom>
          <a:noFill/>
        </p:spPr>
        <p:txBody>
          <a:bodyPr wrap="square" anchor="t" lIns="45720" rIns="45720" tIns="18288" bIns="18288">
            <a:spAutoFit/>
          </a:bodyPr>
          <a:lstStyle/>
          <a:p>
            <a:pPr algn="l"/>
            <a:r>
              <a:rPr sz="1200" b="0" i="0">
                <a:solidFill>
                  <a:srgbClr val="1F2A44"/>
                </a:solidFill>
                <a:latin typeface="Calibri"/>
              </a:rPr>
              <a:t>Schéma flexible mais validé ($jsonSchema), TTL, sharding.</a:t>
            </a:r>
          </a:p>
        </p:txBody>
      </p:sp>
      <p:sp>
        <p:nvSpPr>
          <p:cNvPr id="46" name="Rounded Rectangle 45"/>
          <p:cNvSpPr/>
          <p:nvPr/>
        </p:nvSpPr>
        <p:spPr>
          <a:xfrm>
            <a:off x="8046719" y="4892040"/>
            <a:ext cx="3566160" cy="1325880"/>
          </a:xfrm>
          <a:prstGeom prst="roundRect">
            <a:avLst>
              <a:gd name="adj" fmla="val 8000"/>
            </a:avLst>
          </a:prstGeom>
          <a:solidFill>
            <a:srgbClr val="F6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29599" y="5001768"/>
            <a:ext cx="3200400" cy="365760"/>
          </a:xfrm>
          <a:prstGeom prst="rect">
            <a:avLst/>
          </a:prstGeom>
          <a:noFill/>
        </p:spPr>
        <p:txBody>
          <a:bodyPr wrap="square" anchor="t" lIns="45720" rIns="45720" tIns="18288" bIns="18288">
            <a:spAutoFit/>
          </a:bodyPr>
          <a:lstStyle/>
          <a:p>
            <a:pPr algn="l"/>
            <a:r>
              <a:rPr sz="1400" b="1" i="0">
                <a:solidFill>
                  <a:srgbClr val="15BE53"/>
                </a:solidFill>
                <a:latin typeface="Calibri"/>
              </a:rPr>
              <a:t>L'analyse en colonnes</a:t>
            </a:r>
          </a:p>
        </p:txBody>
      </p:sp>
      <p:sp>
        <p:nvSpPr>
          <p:cNvPr id="48" name="TextBox 47"/>
          <p:cNvSpPr txBox="1"/>
          <p:nvPr/>
        </p:nvSpPr>
        <p:spPr>
          <a:xfrm>
            <a:off x="8229599" y="5394959"/>
            <a:ext cx="3200400" cy="777240"/>
          </a:xfrm>
          <a:prstGeom prst="rect">
            <a:avLst/>
          </a:prstGeom>
          <a:noFill/>
        </p:spPr>
        <p:txBody>
          <a:bodyPr wrap="square" anchor="t" lIns="45720" rIns="45720" tIns="18288" bIns="18288">
            <a:spAutoFit/>
          </a:bodyPr>
          <a:lstStyle/>
          <a:p>
            <a:pPr algn="l"/>
            <a:r>
              <a:rPr sz="1200" b="0" i="0">
                <a:solidFill>
                  <a:srgbClr val="1F2A44"/>
                </a:solidFill>
                <a:latin typeface="Calibri"/>
              </a:rPr>
              <a:t>Grain = 1 transaction, dimensions SCD Type 2, 3 niveaux de pré-agrégation.</a:t>
            </a:r>
          </a:p>
        </p:txBody>
      </p:sp>
      <p:sp>
        <p:nvSpPr>
          <p:cNvPr id="49" name="TextBox 48"/>
          <p:cNvSpPr txBox="1"/>
          <p:nvPr/>
        </p:nvSpPr>
        <p:spPr>
          <a:xfrm>
            <a:off x="548640" y="6446520"/>
            <a:ext cx="9144000" cy="274320"/>
          </a:xfrm>
          <a:prstGeom prst="rect">
            <a:avLst/>
          </a:prstGeom>
          <a:noFill/>
        </p:spPr>
        <p:txBody>
          <a:bodyPr wrap="square" anchor="t" lIns="45720" rIns="45720" tIns="18288" bIns="18288">
            <a:spAutoFit/>
          </a:bodyPr>
          <a:lstStyle/>
          <a:p>
            <a:pPr algn="l"/>
            <a:r>
              <a:rPr sz="900" b="0" i="0">
                <a:solidFill>
                  <a:srgbClr val="6B7C93"/>
                </a:solidFill>
                <a:latin typeface="Calibri"/>
              </a:rPr>
              <a:t>Stripe — architecture de données · Emeline ROBLOT — Data Engineer · Septembre 2026</a:t>
            </a:r>
          </a:p>
        </p:txBody>
      </p:sp>
      <p:sp>
        <p:nvSpPr>
          <p:cNvPr id="50" name="TextBox 49"/>
          <p:cNvSpPr txBox="1"/>
          <p:nvPr/>
        </p:nvSpPr>
        <p:spPr>
          <a:xfrm>
            <a:off x="10698480" y="6446520"/>
            <a:ext cx="914400" cy="274320"/>
          </a:xfrm>
          <a:prstGeom prst="rect">
            <a:avLst/>
          </a:prstGeom>
          <a:noFill/>
        </p:spPr>
        <p:txBody>
          <a:bodyPr wrap="square" anchor="t" lIns="45720" rIns="45720" tIns="18288" bIns="18288">
            <a:spAutoFit/>
          </a:bodyPr>
          <a:lstStyle/>
          <a:p>
            <a:pPr algn="r"/>
            <a:r>
              <a:rPr sz="900" b="0" i="0">
                <a:solidFill>
                  <a:srgbClr val="6B7C93"/>
                </a:solidFill>
                <a:latin typeface="Calibri"/>
              </a:rPr>
              <a:t>2 / 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274320"/>
          </a:xfrm>
          <a:prstGeom prst="rect">
            <a:avLst/>
          </a:prstGeom>
          <a:noFill/>
        </p:spPr>
        <p:txBody>
          <a:bodyPr wrap="square" anchor="t" lIns="45720" rIns="45720" tIns="18288" bIns="18288">
            <a:spAutoFit/>
          </a:bodyPr>
          <a:lstStyle/>
          <a:p>
            <a:pPr algn="l"/>
            <a:r>
              <a:rPr sz="1100" b="1" i="0">
                <a:solidFill>
                  <a:srgbClr val="635BFF"/>
                </a:solidFill>
                <a:latin typeface="Calibri"/>
              </a:rPr>
              <a:t>FIL ROUGE</a:t>
            </a:r>
          </a:p>
        </p:txBody>
      </p:sp>
      <p:sp>
        <p:nvSpPr>
          <p:cNvPr id="4" name="TextBox 3"/>
          <p:cNvSpPr txBox="1"/>
          <p:nvPr/>
        </p:nvSpPr>
        <p:spPr>
          <a:xfrm>
            <a:off x="548640" y="548640"/>
            <a:ext cx="11064240" cy="822960"/>
          </a:xfrm>
          <a:prstGeom prst="rect">
            <a:avLst/>
          </a:prstGeom>
          <a:noFill/>
        </p:spPr>
        <p:txBody>
          <a:bodyPr wrap="square" anchor="t" lIns="45720" rIns="45720" tIns="18288" bIns="18288">
            <a:spAutoFit/>
          </a:bodyPr>
          <a:lstStyle/>
          <a:p>
            <a:pPr algn="l"/>
            <a:r>
              <a:rPr sz="3200" b="1" i="0">
                <a:solidFill>
                  <a:srgbClr val="0A2540"/>
                </a:solidFill>
                <a:latin typeface="Calibri"/>
              </a:rPr>
              <a:t>La vie d'une transaction : sept étapes, une garantie à chacune</a:t>
            </a:r>
          </a:p>
        </p:txBody>
      </p:sp>
      <p:sp>
        <p:nvSpPr>
          <p:cNvPr id="5" name="Rectangle 4"/>
          <p:cNvSpPr/>
          <p:nvPr/>
        </p:nvSpPr>
        <p:spPr>
          <a:xfrm>
            <a:off x="822959" y="2770632"/>
            <a:ext cx="10515600" cy="36576"/>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01198" y="2551176"/>
            <a:ext cx="475488" cy="475488"/>
          </a:xfrm>
          <a:prstGeom prst="ellipse">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1198" y="2551176"/>
            <a:ext cx="475488" cy="475488"/>
          </a:xfrm>
          <a:prstGeom prst="rect">
            <a:avLst/>
          </a:prstGeom>
          <a:noFill/>
        </p:spPr>
        <p:txBody>
          <a:bodyPr wrap="square" anchor="ctr" lIns="45720" rIns="45720" tIns="18288" bIns="18288">
            <a:spAutoFit/>
          </a:bodyPr>
          <a:lstStyle/>
          <a:p>
            <a:pPr algn="ctr"/>
            <a:r>
              <a:rPr sz="1400" b="1" i="0">
                <a:solidFill>
                  <a:srgbClr val="FFFFFF"/>
                </a:solidFill>
                <a:latin typeface="Calibri"/>
              </a:rPr>
              <a:t>1</a:t>
            </a:r>
          </a:p>
        </p:txBody>
      </p:sp>
      <p:sp>
        <p:nvSpPr>
          <p:cNvPr id="8" name="TextBox 7"/>
          <p:cNvSpPr txBox="1"/>
          <p:nvPr/>
        </p:nvSpPr>
        <p:spPr>
          <a:xfrm>
            <a:off x="548640" y="1691640"/>
            <a:ext cx="1580605" cy="457200"/>
          </a:xfrm>
          <a:prstGeom prst="rect">
            <a:avLst/>
          </a:prstGeom>
          <a:noFill/>
        </p:spPr>
        <p:txBody>
          <a:bodyPr wrap="square" anchor="t" lIns="45720" rIns="45720" tIns="18288" bIns="18288">
            <a:spAutoFit/>
          </a:bodyPr>
          <a:lstStyle/>
          <a:p>
            <a:pPr algn="ctr"/>
            <a:r>
              <a:rPr sz="2000" b="1" i="0">
                <a:solidFill>
                  <a:srgbClr val="00B4D8"/>
                </a:solidFill>
                <a:latin typeface="Calibri"/>
              </a:rPr>
              <a:t>&lt; 10 ms</a:t>
            </a:r>
          </a:p>
        </p:txBody>
      </p:sp>
      <p:sp>
        <p:nvSpPr>
          <p:cNvPr id="9" name="TextBox 8"/>
          <p:cNvSpPr txBox="1"/>
          <p:nvPr/>
        </p:nvSpPr>
        <p:spPr>
          <a:xfrm>
            <a:off x="548640" y="3154680"/>
            <a:ext cx="1580605" cy="365760"/>
          </a:xfrm>
          <a:prstGeom prst="rect">
            <a:avLst/>
          </a:prstGeom>
          <a:noFill/>
        </p:spPr>
        <p:txBody>
          <a:bodyPr wrap="square" anchor="t" lIns="45720" rIns="45720" tIns="18288" bIns="18288">
            <a:spAutoFit/>
          </a:bodyPr>
          <a:lstStyle/>
          <a:p>
            <a:pPr algn="ctr"/>
            <a:r>
              <a:rPr sz="1300" b="1" i="0">
                <a:solidFill>
                  <a:srgbClr val="0A2540"/>
                </a:solidFill>
                <a:latin typeface="Calibri"/>
              </a:rPr>
              <a:t>POST /charges</a:t>
            </a:r>
          </a:p>
        </p:txBody>
      </p:sp>
      <p:sp>
        <p:nvSpPr>
          <p:cNvPr id="10" name="TextBox 9"/>
          <p:cNvSpPr txBox="1"/>
          <p:nvPr/>
        </p:nvSpPr>
        <p:spPr>
          <a:xfrm>
            <a:off x="594360" y="3520440"/>
            <a:ext cx="1489165" cy="1097280"/>
          </a:xfrm>
          <a:prstGeom prst="rect">
            <a:avLst/>
          </a:prstGeom>
          <a:noFill/>
        </p:spPr>
        <p:txBody>
          <a:bodyPr wrap="square" anchor="t" lIns="45720" rIns="45720" tIns="18288" bIns="18288">
            <a:spAutoFit/>
          </a:bodyPr>
          <a:lstStyle/>
          <a:p>
            <a:pPr algn="ctr"/>
            <a:r>
              <a:rPr sz="1000" b="0" i="0">
                <a:solidFill>
                  <a:srgbClr val="6B7C93"/>
                </a:solidFill>
                <a:latin typeface="Calibri"/>
              </a:rPr>
              <a:t>Écriture OLTP, ACID
idempotency_key : jamais deux débits</a:t>
            </a:r>
          </a:p>
        </p:txBody>
      </p:sp>
      <p:sp>
        <p:nvSpPr>
          <p:cNvPr id="11" name="Oval 10"/>
          <p:cNvSpPr/>
          <p:nvPr/>
        </p:nvSpPr>
        <p:spPr>
          <a:xfrm>
            <a:off x="2681804" y="2551176"/>
            <a:ext cx="475488" cy="475488"/>
          </a:xfrm>
          <a:prstGeom prst="ellipse">
            <a:avLst/>
          </a:prstGeom>
          <a:solidFill>
            <a:srgbClr val="635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81804" y="2551176"/>
            <a:ext cx="475488" cy="475488"/>
          </a:xfrm>
          <a:prstGeom prst="rect">
            <a:avLst/>
          </a:prstGeom>
          <a:noFill/>
        </p:spPr>
        <p:txBody>
          <a:bodyPr wrap="square" anchor="ctr" lIns="45720" rIns="45720" tIns="18288" bIns="18288">
            <a:spAutoFit/>
          </a:bodyPr>
          <a:lstStyle/>
          <a:p>
            <a:pPr algn="ctr"/>
            <a:r>
              <a:rPr sz="1400" b="1" i="0">
                <a:solidFill>
                  <a:srgbClr val="FFFFFF"/>
                </a:solidFill>
                <a:latin typeface="Calibri"/>
              </a:rPr>
              <a:t>2</a:t>
            </a:r>
          </a:p>
        </p:txBody>
      </p:sp>
      <p:sp>
        <p:nvSpPr>
          <p:cNvPr id="13" name="TextBox 12"/>
          <p:cNvSpPr txBox="1"/>
          <p:nvPr/>
        </p:nvSpPr>
        <p:spPr>
          <a:xfrm>
            <a:off x="2129245" y="1691640"/>
            <a:ext cx="1580605" cy="457200"/>
          </a:xfrm>
          <a:prstGeom prst="rect">
            <a:avLst/>
          </a:prstGeom>
          <a:noFill/>
        </p:spPr>
        <p:txBody>
          <a:bodyPr wrap="square" anchor="t" lIns="45720" rIns="45720" tIns="18288" bIns="18288">
            <a:spAutoFit/>
          </a:bodyPr>
          <a:lstStyle/>
          <a:p>
            <a:pPr algn="ctr"/>
            <a:r>
              <a:rPr sz="2000" b="1" i="0">
                <a:solidFill>
                  <a:srgbClr val="635BFF"/>
                </a:solidFill>
                <a:latin typeface="Calibri"/>
              </a:rPr>
              <a:t>&lt; 500 ms</a:t>
            </a:r>
          </a:p>
        </p:txBody>
      </p:sp>
      <p:sp>
        <p:nvSpPr>
          <p:cNvPr id="14" name="TextBox 13"/>
          <p:cNvSpPr txBox="1"/>
          <p:nvPr/>
        </p:nvSpPr>
        <p:spPr>
          <a:xfrm>
            <a:off x="2129245" y="3154680"/>
            <a:ext cx="1580605" cy="365760"/>
          </a:xfrm>
          <a:prstGeom prst="rect">
            <a:avLst/>
          </a:prstGeom>
          <a:noFill/>
        </p:spPr>
        <p:txBody>
          <a:bodyPr wrap="square" anchor="t" lIns="45720" rIns="45720" tIns="18288" bIns="18288">
            <a:spAutoFit/>
          </a:bodyPr>
          <a:lstStyle/>
          <a:p>
            <a:pPr algn="ctr"/>
            <a:r>
              <a:rPr sz="1300" b="1" i="0">
                <a:solidFill>
                  <a:srgbClr val="0A2540"/>
                </a:solidFill>
                <a:latin typeface="Calibri"/>
              </a:rPr>
              <a:t>CDC → Kafka</a:t>
            </a:r>
          </a:p>
        </p:txBody>
      </p:sp>
      <p:sp>
        <p:nvSpPr>
          <p:cNvPr id="15" name="TextBox 14"/>
          <p:cNvSpPr txBox="1"/>
          <p:nvPr/>
        </p:nvSpPr>
        <p:spPr>
          <a:xfrm>
            <a:off x="2174965" y="3520440"/>
            <a:ext cx="1489165" cy="1097280"/>
          </a:xfrm>
          <a:prstGeom prst="rect">
            <a:avLst/>
          </a:prstGeom>
          <a:noFill/>
        </p:spPr>
        <p:txBody>
          <a:bodyPr wrap="square" anchor="t" lIns="45720" rIns="45720" tIns="18288" bIns="18288">
            <a:spAutoFit/>
          </a:bodyPr>
          <a:lstStyle/>
          <a:p>
            <a:pPr algn="ctr"/>
            <a:r>
              <a:rPr sz="1000" b="0" i="0">
                <a:solidFill>
                  <a:srgbClr val="6B7C93"/>
                </a:solidFill>
                <a:latin typeface="Calibri"/>
              </a:rPr>
              <a:t>Debezium lit le WAL
ordre par merchant</a:t>
            </a:r>
          </a:p>
        </p:txBody>
      </p:sp>
      <p:sp>
        <p:nvSpPr>
          <p:cNvPr id="16" name="Oval 15"/>
          <p:cNvSpPr/>
          <p:nvPr/>
        </p:nvSpPr>
        <p:spPr>
          <a:xfrm>
            <a:off x="4262410" y="2551176"/>
            <a:ext cx="475488" cy="475488"/>
          </a:xfrm>
          <a:prstGeom prst="ellipse">
            <a:avLst/>
          </a:prstGeom>
          <a:solidFill>
            <a:srgbClr val="F58A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62410" y="2551176"/>
            <a:ext cx="475488" cy="475488"/>
          </a:xfrm>
          <a:prstGeom prst="rect">
            <a:avLst/>
          </a:prstGeom>
          <a:noFill/>
        </p:spPr>
        <p:txBody>
          <a:bodyPr wrap="square" anchor="ctr" lIns="45720" rIns="45720" tIns="18288" bIns="18288">
            <a:spAutoFit/>
          </a:bodyPr>
          <a:lstStyle/>
          <a:p>
            <a:pPr algn="ctr"/>
            <a:r>
              <a:rPr sz="1400" b="1" i="0">
                <a:solidFill>
                  <a:srgbClr val="FFFFFF"/>
                </a:solidFill>
                <a:latin typeface="Calibri"/>
              </a:rPr>
              <a:t>3</a:t>
            </a:r>
          </a:p>
        </p:txBody>
      </p:sp>
      <p:sp>
        <p:nvSpPr>
          <p:cNvPr id="18" name="TextBox 17"/>
          <p:cNvSpPr txBox="1"/>
          <p:nvPr/>
        </p:nvSpPr>
        <p:spPr>
          <a:xfrm>
            <a:off x="3709851" y="1691640"/>
            <a:ext cx="1580605" cy="457200"/>
          </a:xfrm>
          <a:prstGeom prst="rect">
            <a:avLst/>
          </a:prstGeom>
          <a:noFill/>
        </p:spPr>
        <p:txBody>
          <a:bodyPr wrap="square" anchor="t" lIns="45720" rIns="45720" tIns="18288" bIns="18288">
            <a:spAutoFit/>
          </a:bodyPr>
          <a:lstStyle/>
          <a:p>
            <a:pPr algn="ctr"/>
            <a:r>
              <a:rPr sz="2000" b="1" i="0">
                <a:solidFill>
                  <a:srgbClr val="F58A07"/>
                </a:solidFill>
                <a:latin typeface="Calibri"/>
              </a:rPr>
              <a:t>115 ms</a:t>
            </a:r>
          </a:p>
        </p:txBody>
      </p:sp>
      <p:sp>
        <p:nvSpPr>
          <p:cNvPr id="19" name="TextBox 18"/>
          <p:cNvSpPr txBox="1"/>
          <p:nvPr/>
        </p:nvSpPr>
        <p:spPr>
          <a:xfrm>
            <a:off x="3709851" y="3154680"/>
            <a:ext cx="1580605" cy="365760"/>
          </a:xfrm>
          <a:prstGeom prst="rect">
            <a:avLst/>
          </a:prstGeom>
          <a:noFill/>
        </p:spPr>
        <p:txBody>
          <a:bodyPr wrap="square" anchor="t" lIns="45720" rIns="45720" tIns="18288" bIns="18288">
            <a:spAutoFit/>
          </a:bodyPr>
          <a:lstStyle/>
          <a:p>
            <a:pPr algn="ctr"/>
            <a:r>
              <a:rPr sz="1300" b="1" i="0">
                <a:solidFill>
                  <a:srgbClr val="0A2540"/>
                </a:solidFill>
                <a:latin typeface="Calibri"/>
              </a:rPr>
              <a:t>Décision fraude</a:t>
            </a:r>
          </a:p>
        </p:txBody>
      </p:sp>
      <p:sp>
        <p:nvSpPr>
          <p:cNvPr id="20" name="TextBox 19"/>
          <p:cNvSpPr txBox="1"/>
          <p:nvPr/>
        </p:nvSpPr>
        <p:spPr>
          <a:xfrm>
            <a:off x="3755571" y="3520440"/>
            <a:ext cx="1489165" cy="1097280"/>
          </a:xfrm>
          <a:prstGeom prst="rect">
            <a:avLst/>
          </a:prstGeom>
          <a:noFill/>
        </p:spPr>
        <p:txBody>
          <a:bodyPr wrap="square" anchor="t" lIns="45720" rIns="45720" tIns="18288" bIns="18288">
            <a:spAutoFit/>
          </a:bodyPr>
          <a:lstStyle/>
          <a:p>
            <a:pPr algn="ctr"/>
            <a:r>
              <a:rPr sz="1000" b="0" i="0">
                <a:solidFill>
                  <a:srgbClr val="6B7C93"/>
                </a:solidFill>
                <a:latin typeface="Calibri"/>
              </a:rPr>
              <a:t>Redis + règles + XGBoost
budget 200 ms, fallback règles</a:t>
            </a:r>
          </a:p>
        </p:txBody>
      </p:sp>
      <p:sp>
        <p:nvSpPr>
          <p:cNvPr id="21" name="Oval 20"/>
          <p:cNvSpPr/>
          <p:nvPr/>
        </p:nvSpPr>
        <p:spPr>
          <a:xfrm>
            <a:off x="5843015" y="2551176"/>
            <a:ext cx="475488" cy="475488"/>
          </a:xfrm>
          <a:prstGeom prst="ellipse">
            <a:avLst/>
          </a:prstGeom>
          <a:solidFill>
            <a:srgbClr val="F58A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43015" y="2551176"/>
            <a:ext cx="475488" cy="475488"/>
          </a:xfrm>
          <a:prstGeom prst="rect">
            <a:avLst/>
          </a:prstGeom>
          <a:noFill/>
        </p:spPr>
        <p:txBody>
          <a:bodyPr wrap="square" anchor="ctr" lIns="45720" rIns="45720" tIns="18288" bIns="18288">
            <a:spAutoFit/>
          </a:bodyPr>
          <a:lstStyle/>
          <a:p>
            <a:pPr algn="ctr"/>
            <a:r>
              <a:rPr sz="1400" b="1" i="0">
                <a:solidFill>
                  <a:srgbClr val="FFFFFF"/>
                </a:solidFill>
                <a:latin typeface="Calibri"/>
              </a:rPr>
              <a:t>4</a:t>
            </a:r>
          </a:p>
        </p:txBody>
      </p:sp>
      <p:sp>
        <p:nvSpPr>
          <p:cNvPr id="23" name="TextBox 22"/>
          <p:cNvSpPr txBox="1"/>
          <p:nvPr/>
        </p:nvSpPr>
        <p:spPr>
          <a:xfrm>
            <a:off x="5290457" y="1691640"/>
            <a:ext cx="1580605" cy="457200"/>
          </a:xfrm>
          <a:prstGeom prst="rect">
            <a:avLst/>
          </a:prstGeom>
          <a:noFill/>
        </p:spPr>
        <p:txBody>
          <a:bodyPr wrap="square" anchor="t" lIns="45720" rIns="45720" tIns="18288" bIns="18288">
            <a:spAutoFit/>
          </a:bodyPr>
          <a:lstStyle/>
          <a:p>
            <a:pPr algn="ctr"/>
            <a:r>
              <a:rPr sz="2000" b="1" i="0">
                <a:solidFill>
                  <a:srgbClr val="F58A07"/>
                </a:solidFill>
                <a:latin typeface="Calibri"/>
              </a:rPr>
              <a:t>&lt; 1 s</a:t>
            </a:r>
          </a:p>
        </p:txBody>
      </p:sp>
      <p:sp>
        <p:nvSpPr>
          <p:cNvPr id="24" name="TextBox 23"/>
          <p:cNvSpPr txBox="1"/>
          <p:nvPr/>
        </p:nvSpPr>
        <p:spPr>
          <a:xfrm>
            <a:off x="5290457" y="3154680"/>
            <a:ext cx="1580605" cy="365760"/>
          </a:xfrm>
          <a:prstGeom prst="rect">
            <a:avLst/>
          </a:prstGeom>
          <a:noFill/>
        </p:spPr>
        <p:txBody>
          <a:bodyPr wrap="square" anchor="t" lIns="45720" rIns="45720" tIns="18288" bIns="18288">
            <a:spAutoFit/>
          </a:bodyPr>
          <a:lstStyle/>
          <a:p>
            <a:pPr algn="ctr"/>
            <a:r>
              <a:rPr sz="1300" b="1" i="0">
                <a:solidFill>
                  <a:srgbClr val="0A2540"/>
                </a:solidFill>
                <a:latin typeface="Calibri"/>
              </a:rPr>
              <a:t>MongoDB</a:t>
            </a:r>
          </a:p>
        </p:txBody>
      </p:sp>
      <p:sp>
        <p:nvSpPr>
          <p:cNvPr id="25" name="TextBox 24"/>
          <p:cNvSpPr txBox="1"/>
          <p:nvPr/>
        </p:nvSpPr>
        <p:spPr>
          <a:xfrm>
            <a:off x="5336177" y="3520440"/>
            <a:ext cx="1489165" cy="1097280"/>
          </a:xfrm>
          <a:prstGeom prst="rect">
            <a:avLst/>
          </a:prstGeom>
          <a:noFill/>
        </p:spPr>
        <p:txBody>
          <a:bodyPr wrap="square" anchor="t" lIns="45720" rIns="45720" tIns="18288" bIns="18288">
            <a:spAutoFit/>
          </a:bodyPr>
          <a:lstStyle/>
          <a:p>
            <a:pPr algn="ctr"/>
            <a:r>
              <a:rPr sz="1000" b="0" i="0">
                <a:solidFill>
                  <a:srgbClr val="6B7C93"/>
                </a:solidFill>
                <a:latin typeface="Calibri"/>
              </a:rPr>
              <a:t>features, prédiction,
top 3 SHAP · fraud_indicators → OLTP</a:t>
            </a:r>
          </a:p>
        </p:txBody>
      </p:sp>
      <p:sp>
        <p:nvSpPr>
          <p:cNvPr id="26" name="Oval 25"/>
          <p:cNvSpPr/>
          <p:nvPr/>
        </p:nvSpPr>
        <p:spPr>
          <a:xfrm>
            <a:off x="7423621" y="2551176"/>
            <a:ext cx="475488" cy="475488"/>
          </a:xfrm>
          <a:prstGeom prst="ellipse">
            <a:avLst/>
          </a:prstGeom>
          <a:solidFill>
            <a:srgbClr val="15BE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23621" y="2551176"/>
            <a:ext cx="475488" cy="475488"/>
          </a:xfrm>
          <a:prstGeom prst="rect">
            <a:avLst/>
          </a:prstGeom>
          <a:noFill/>
        </p:spPr>
        <p:txBody>
          <a:bodyPr wrap="square" anchor="ctr" lIns="45720" rIns="45720" tIns="18288" bIns="18288">
            <a:spAutoFit/>
          </a:bodyPr>
          <a:lstStyle/>
          <a:p>
            <a:pPr algn="ctr"/>
            <a:r>
              <a:rPr sz="1400" b="1" i="0">
                <a:solidFill>
                  <a:srgbClr val="FFFFFF"/>
                </a:solidFill>
                <a:latin typeface="Calibri"/>
              </a:rPr>
              <a:t>5</a:t>
            </a:r>
          </a:p>
        </p:txBody>
      </p:sp>
      <p:sp>
        <p:nvSpPr>
          <p:cNvPr id="28" name="TextBox 27"/>
          <p:cNvSpPr txBox="1"/>
          <p:nvPr/>
        </p:nvSpPr>
        <p:spPr>
          <a:xfrm>
            <a:off x="6871062" y="1691640"/>
            <a:ext cx="1580605" cy="457200"/>
          </a:xfrm>
          <a:prstGeom prst="rect">
            <a:avLst/>
          </a:prstGeom>
          <a:noFill/>
        </p:spPr>
        <p:txBody>
          <a:bodyPr wrap="square" anchor="t" lIns="45720" rIns="45720" tIns="18288" bIns="18288">
            <a:spAutoFit/>
          </a:bodyPr>
          <a:lstStyle/>
          <a:p>
            <a:pPr algn="ctr"/>
            <a:r>
              <a:rPr sz="2000" b="1" i="0">
                <a:solidFill>
                  <a:srgbClr val="15BE53"/>
                </a:solidFill>
                <a:latin typeface="Calibri"/>
              </a:rPr>
              <a:t>&lt; 5 min</a:t>
            </a:r>
          </a:p>
        </p:txBody>
      </p:sp>
      <p:sp>
        <p:nvSpPr>
          <p:cNvPr id="29" name="TextBox 28"/>
          <p:cNvSpPr txBox="1"/>
          <p:nvPr/>
        </p:nvSpPr>
        <p:spPr>
          <a:xfrm>
            <a:off x="6871062" y="3154680"/>
            <a:ext cx="1580605" cy="365760"/>
          </a:xfrm>
          <a:prstGeom prst="rect">
            <a:avLst/>
          </a:prstGeom>
          <a:noFill/>
        </p:spPr>
        <p:txBody>
          <a:bodyPr wrap="square" anchor="t" lIns="45720" rIns="45720" tIns="18288" bIns="18288">
            <a:spAutoFit/>
          </a:bodyPr>
          <a:lstStyle/>
          <a:p>
            <a:pPr algn="ctr"/>
            <a:r>
              <a:rPr sz="1300" b="1" i="0">
                <a:solidFill>
                  <a:srgbClr val="0A2540"/>
                </a:solidFill>
                <a:latin typeface="Calibri"/>
              </a:rPr>
              <a:t>Star schema</a:t>
            </a:r>
          </a:p>
        </p:txBody>
      </p:sp>
      <p:sp>
        <p:nvSpPr>
          <p:cNvPr id="30" name="TextBox 29"/>
          <p:cNvSpPr txBox="1"/>
          <p:nvPr/>
        </p:nvSpPr>
        <p:spPr>
          <a:xfrm>
            <a:off x="6916782" y="3520440"/>
            <a:ext cx="1489165" cy="1097280"/>
          </a:xfrm>
          <a:prstGeom prst="rect">
            <a:avLst/>
          </a:prstGeom>
          <a:noFill/>
        </p:spPr>
        <p:txBody>
          <a:bodyPr wrap="square" anchor="t" lIns="45720" rIns="45720" tIns="18288" bIns="18288">
            <a:spAutoFit/>
          </a:bodyPr>
          <a:lstStyle/>
          <a:p>
            <a:pPr algn="ctr"/>
            <a:r>
              <a:rPr sz="1000" b="0" i="0">
                <a:solidFill>
                  <a:srgbClr val="6B7C93"/>
                </a:solidFill>
                <a:latin typeface="Calibri"/>
              </a:rPr>
              <a:t>S3 → dbt → fact_transactions
MERGE idempotent</a:t>
            </a:r>
          </a:p>
        </p:txBody>
      </p:sp>
      <p:sp>
        <p:nvSpPr>
          <p:cNvPr id="31" name="Oval 30"/>
          <p:cNvSpPr/>
          <p:nvPr/>
        </p:nvSpPr>
        <p:spPr>
          <a:xfrm>
            <a:off x="9004227" y="2551176"/>
            <a:ext cx="475488" cy="475488"/>
          </a:xfrm>
          <a:prstGeom prst="ellipse">
            <a:avLst/>
          </a:prstGeom>
          <a:solidFill>
            <a:srgbClr val="E54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04227" y="2551176"/>
            <a:ext cx="475488" cy="475488"/>
          </a:xfrm>
          <a:prstGeom prst="rect">
            <a:avLst/>
          </a:prstGeom>
          <a:noFill/>
        </p:spPr>
        <p:txBody>
          <a:bodyPr wrap="square" anchor="ctr" lIns="45720" rIns="45720" tIns="18288" bIns="18288">
            <a:spAutoFit/>
          </a:bodyPr>
          <a:lstStyle/>
          <a:p>
            <a:pPr algn="ctr"/>
            <a:r>
              <a:rPr sz="1400" b="1" i="0">
                <a:solidFill>
                  <a:srgbClr val="FFFFFF"/>
                </a:solidFill>
                <a:latin typeface="Calibri"/>
              </a:rPr>
              <a:t>6</a:t>
            </a:r>
          </a:p>
        </p:txBody>
      </p:sp>
      <p:sp>
        <p:nvSpPr>
          <p:cNvPr id="33" name="TextBox 32"/>
          <p:cNvSpPr txBox="1"/>
          <p:nvPr/>
        </p:nvSpPr>
        <p:spPr>
          <a:xfrm>
            <a:off x="8451668" y="1691640"/>
            <a:ext cx="1580605" cy="457200"/>
          </a:xfrm>
          <a:prstGeom prst="rect">
            <a:avLst/>
          </a:prstGeom>
          <a:noFill/>
        </p:spPr>
        <p:txBody>
          <a:bodyPr wrap="square" anchor="t" lIns="45720" rIns="45720" tIns="18288" bIns="18288">
            <a:spAutoFit/>
          </a:bodyPr>
          <a:lstStyle/>
          <a:p>
            <a:pPr algn="ctr"/>
            <a:r>
              <a:rPr sz="2000" b="1" i="0">
                <a:solidFill>
                  <a:srgbClr val="E54848"/>
                </a:solidFill>
                <a:latin typeface="Calibri"/>
              </a:rPr>
              <a:t>J+45</a:t>
            </a:r>
          </a:p>
        </p:txBody>
      </p:sp>
      <p:sp>
        <p:nvSpPr>
          <p:cNvPr id="34" name="TextBox 33"/>
          <p:cNvSpPr txBox="1"/>
          <p:nvPr/>
        </p:nvSpPr>
        <p:spPr>
          <a:xfrm>
            <a:off x="8451668" y="3154680"/>
            <a:ext cx="1580605" cy="365760"/>
          </a:xfrm>
          <a:prstGeom prst="rect">
            <a:avLst/>
          </a:prstGeom>
          <a:noFill/>
        </p:spPr>
        <p:txBody>
          <a:bodyPr wrap="square" anchor="t" lIns="45720" rIns="45720" tIns="18288" bIns="18288">
            <a:spAutoFit/>
          </a:bodyPr>
          <a:lstStyle/>
          <a:p>
            <a:pPr algn="ctr"/>
            <a:r>
              <a:rPr sz="1300" b="1" i="0">
                <a:solidFill>
                  <a:srgbClr val="0A2540"/>
                </a:solidFill>
                <a:latin typeface="Calibri"/>
              </a:rPr>
              <a:t>Chargeback</a:t>
            </a:r>
          </a:p>
        </p:txBody>
      </p:sp>
      <p:sp>
        <p:nvSpPr>
          <p:cNvPr id="35" name="TextBox 34"/>
          <p:cNvSpPr txBox="1"/>
          <p:nvPr/>
        </p:nvSpPr>
        <p:spPr>
          <a:xfrm>
            <a:off x="8497388" y="3520440"/>
            <a:ext cx="1489165" cy="1097280"/>
          </a:xfrm>
          <a:prstGeom prst="rect">
            <a:avLst/>
          </a:prstGeom>
          <a:noFill/>
        </p:spPr>
        <p:txBody>
          <a:bodyPr wrap="square" anchor="t" lIns="45720" rIns="45720" tIns="18288" bIns="18288">
            <a:spAutoFit/>
          </a:bodyPr>
          <a:lstStyle/>
          <a:p>
            <a:pPr algn="ctr"/>
            <a:r>
              <a:rPr sz="1000" b="0" i="0">
                <a:solidFill>
                  <a:srgbClr val="6B7C93"/>
                </a:solidFill>
                <a:latin typeface="Calibri"/>
              </a:rPr>
              <a:t>disputes : la vérité terrain
→ label dans ml_features</a:t>
            </a:r>
          </a:p>
        </p:txBody>
      </p:sp>
      <p:sp>
        <p:nvSpPr>
          <p:cNvPr id="36" name="Oval 35"/>
          <p:cNvSpPr/>
          <p:nvPr/>
        </p:nvSpPr>
        <p:spPr>
          <a:xfrm>
            <a:off x="10584833" y="2551176"/>
            <a:ext cx="475488" cy="475488"/>
          </a:xfrm>
          <a:prstGeom prst="ellipse">
            <a:avLst/>
          </a:prstGeom>
          <a:solidFill>
            <a:srgbClr val="15BE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584833" y="2551176"/>
            <a:ext cx="475488" cy="475488"/>
          </a:xfrm>
          <a:prstGeom prst="rect">
            <a:avLst/>
          </a:prstGeom>
          <a:noFill/>
        </p:spPr>
        <p:txBody>
          <a:bodyPr wrap="square" anchor="ctr" lIns="45720" rIns="45720" tIns="18288" bIns="18288">
            <a:spAutoFit/>
          </a:bodyPr>
          <a:lstStyle/>
          <a:p>
            <a:pPr algn="ctr"/>
            <a:r>
              <a:rPr sz="1400" b="1" i="0">
                <a:solidFill>
                  <a:srgbClr val="FFFFFF"/>
                </a:solidFill>
                <a:latin typeface="Calibri"/>
              </a:rPr>
              <a:t>7</a:t>
            </a:r>
          </a:p>
        </p:txBody>
      </p:sp>
      <p:sp>
        <p:nvSpPr>
          <p:cNvPr id="38" name="TextBox 37"/>
          <p:cNvSpPr txBox="1"/>
          <p:nvPr/>
        </p:nvSpPr>
        <p:spPr>
          <a:xfrm>
            <a:off x="10032274" y="1691640"/>
            <a:ext cx="1580605" cy="457200"/>
          </a:xfrm>
          <a:prstGeom prst="rect">
            <a:avLst/>
          </a:prstGeom>
          <a:noFill/>
        </p:spPr>
        <p:txBody>
          <a:bodyPr wrap="square" anchor="t" lIns="45720" rIns="45720" tIns="18288" bIns="18288">
            <a:spAutoFit/>
          </a:bodyPr>
          <a:lstStyle/>
          <a:p>
            <a:pPr algn="ctr"/>
            <a:r>
              <a:rPr sz="2000" b="1" i="0">
                <a:solidFill>
                  <a:srgbClr val="15BE53"/>
                </a:solidFill>
                <a:latin typeface="Calibri"/>
              </a:rPr>
              <a:t>J+52</a:t>
            </a:r>
          </a:p>
        </p:txBody>
      </p:sp>
      <p:sp>
        <p:nvSpPr>
          <p:cNvPr id="39" name="TextBox 38"/>
          <p:cNvSpPr txBox="1"/>
          <p:nvPr/>
        </p:nvSpPr>
        <p:spPr>
          <a:xfrm>
            <a:off x="10032274" y="3154680"/>
            <a:ext cx="1580605" cy="365760"/>
          </a:xfrm>
          <a:prstGeom prst="rect">
            <a:avLst/>
          </a:prstGeom>
          <a:noFill/>
        </p:spPr>
        <p:txBody>
          <a:bodyPr wrap="square" anchor="t" lIns="45720" rIns="45720" tIns="18288" bIns="18288">
            <a:spAutoFit/>
          </a:bodyPr>
          <a:lstStyle/>
          <a:p>
            <a:pPr algn="ctr"/>
            <a:r>
              <a:rPr sz="1300" b="1" i="0">
                <a:solidFill>
                  <a:srgbClr val="0A2540"/>
                </a:solidFill>
                <a:latin typeface="Calibri"/>
              </a:rPr>
              <a:t>Réentraînement</a:t>
            </a:r>
          </a:p>
        </p:txBody>
      </p:sp>
      <p:sp>
        <p:nvSpPr>
          <p:cNvPr id="40" name="TextBox 39"/>
          <p:cNvSpPr txBox="1"/>
          <p:nvPr/>
        </p:nvSpPr>
        <p:spPr>
          <a:xfrm>
            <a:off x="10077994" y="3520440"/>
            <a:ext cx="1489165" cy="1097280"/>
          </a:xfrm>
          <a:prstGeom prst="rect">
            <a:avLst/>
          </a:prstGeom>
          <a:noFill/>
        </p:spPr>
        <p:txBody>
          <a:bodyPr wrap="square" anchor="t" lIns="45720" rIns="45720" tIns="18288" bIns="18288">
            <a:spAutoFit/>
          </a:bodyPr>
          <a:lstStyle/>
          <a:p>
            <a:pPr algn="ctr"/>
            <a:r>
              <a:rPr sz="1000" b="0" i="0">
                <a:solidFill>
                  <a:srgbClr val="6B7C93"/>
                </a:solidFill>
                <a:latin typeface="Calibri"/>
              </a:rPr>
              <a:t>dataset mature · shadow →
canary → production</a:t>
            </a:r>
          </a:p>
        </p:txBody>
      </p:sp>
      <p:sp>
        <p:nvSpPr>
          <p:cNvPr id="41" name="Rounded Rectangle 40"/>
          <p:cNvSpPr/>
          <p:nvPr/>
        </p:nvSpPr>
        <p:spPr>
          <a:xfrm>
            <a:off x="548640" y="4892040"/>
            <a:ext cx="11064240" cy="1325880"/>
          </a:xfrm>
          <a:prstGeom prst="roundRect">
            <a:avLst>
              <a:gd name="adj" fmla="val 8000"/>
            </a:avLst>
          </a:prstGeom>
          <a:solidFill>
            <a:srgbClr val="F6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4983480"/>
            <a:ext cx="10698480" cy="1188720"/>
          </a:xfrm>
          <a:prstGeom prst="rect">
            <a:avLst/>
          </a:prstGeom>
          <a:noFill/>
        </p:spPr>
        <p:txBody>
          <a:bodyPr wrap="square" lIns="45720" rIns="45720" tIns="18288" bIns="18288">
            <a:spAutoFit/>
          </a:bodyPr>
          <a:lstStyle/>
          <a:p>
            <a:pPr>
              <a:spcBef>
                <a:spcPts val="400"/>
              </a:spcBef>
            </a:pPr>
            <a:r>
              <a:rPr sz="1200">
                <a:solidFill>
                  <a:srgbClr val="635BFF"/>
                </a:solidFill>
                <a:latin typeface="Calibri"/>
              </a:rPr>
              <a:t>▸ </a:t>
            </a:r>
            <a:r>
              <a:rPr sz="1200" b="1">
                <a:solidFill>
                  <a:srgbClr val="1F2A44"/>
                </a:solidFill>
                <a:latin typeface="Calibri"/>
              </a:rPr>
              <a:t>Chaque saut est idempotent : </a:t>
            </a:r>
            <a:r>
              <a:rPr sz="1200">
                <a:solidFill>
                  <a:srgbClr val="1F2A44"/>
                </a:solidFill>
                <a:latin typeface="Calibri"/>
              </a:rPr>
              <a:t>clé unique, upsert, MERGE, manifeste COPY. Kafka est at-least-once ; l'idempotence en fait un exactly-once effectif.</a:t>
            </a:r>
          </a:p>
          <a:p>
            <a:pPr>
              <a:spcBef>
                <a:spcPts val="400"/>
              </a:spcBef>
            </a:pPr>
            <a:r>
              <a:rPr sz="1200">
                <a:solidFill>
                  <a:srgbClr val="635BFF"/>
                </a:solidFill>
                <a:latin typeface="Calibri"/>
              </a:rPr>
              <a:t>▸ </a:t>
            </a:r>
            <a:r>
              <a:rPr sz="1200" b="1">
                <a:solidFill>
                  <a:srgbClr val="1F2A44"/>
                </a:solidFill>
                <a:latin typeface="Calibri"/>
              </a:rPr>
              <a:t>Si Kafka tombe, </a:t>
            </a:r>
            <a:r>
              <a:rPr sz="1200">
                <a:solidFill>
                  <a:srgbClr val="1F2A44"/>
                </a:solidFill>
                <a:latin typeface="Calibri"/>
              </a:rPr>
              <a:t>l'OLTP continue (CDC asynchrone). Si l'entrepôt tombe, S3 accumule et rattrape. Si le scoring tombe, les règles dures décident : on ne bloque jamais un paiement parce qu'un modèle est lent.</a:t>
            </a:r>
          </a:p>
          <a:p>
            <a:pPr>
              <a:spcBef>
                <a:spcPts val="400"/>
              </a:spcBef>
            </a:pPr>
            <a:r>
              <a:rPr sz="1200">
                <a:solidFill>
                  <a:srgbClr val="635BFF"/>
                </a:solidFill>
                <a:latin typeface="Calibri"/>
              </a:rPr>
              <a:t>▸ </a:t>
            </a:r>
            <a:r>
              <a:rPr sz="1200" b="1">
                <a:solidFill>
                  <a:srgbClr val="1F2A44"/>
                </a:solidFill>
                <a:latin typeface="Calibri"/>
              </a:rPr>
              <a:t>Le chargeback à J+45 est la vérité terrain de la fraude : </a:t>
            </a:r>
            <a:r>
              <a:rPr sz="1200">
                <a:solidFill>
                  <a:srgbClr val="1F2A44"/>
                </a:solidFill>
                <a:latin typeface="Calibri"/>
              </a:rPr>
              <a:t>une architecture qui ne sait pas le rattacher à la transaction d'origine ne peut pas améliorer son modèle.</a:t>
            </a:r>
          </a:p>
        </p:txBody>
      </p:sp>
      <p:sp>
        <p:nvSpPr>
          <p:cNvPr id="43" name="TextBox 42"/>
          <p:cNvSpPr txBox="1"/>
          <p:nvPr/>
        </p:nvSpPr>
        <p:spPr>
          <a:xfrm>
            <a:off x="548640" y="6446520"/>
            <a:ext cx="9144000" cy="274320"/>
          </a:xfrm>
          <a:prstGeom prst="rect">
            <a:avLst/>
          </a:prstGeom>
          <a:noFill/>
        </p:spPr>
        <p:txBody>
          <a:bodyPr wrap="square" anchor="t" lIns="45720" rIns="45720" tIns="18288" bIns="18288">
            <a:spAutoFit/>
          </a:bodyPr>
          <a:lstStyle/>
          <a:p>
            <a:pPr algn="l"/>
            <a:r>
              <a:rPr sz="900" b="0" i="0">
                <a:solidFill>
                  <a:srgbClr val="6B7C93"/>
                </a:solidFill>
                <a:latin typeface="Calibri"/>
              </a:rPr>
              <a:t>Stripe — architecture de données · Emeline ROBLOT — Data Engineer · Septembre 2026</a:t>
            </a:r>
          </a:p>
        </p:txBody>
      </p:sp>
      <p:sp>
        <p:nvSpPr>
          <p:cNvPr id="44" name="TextBox 43"/>
          <p:cNvSpPr txBox="1"/>
          <p:nvPr/>
        </p:nvSpPr>
        <p:spPr>
          <a:xfrm>
            <a:off x="10698480" y="6446520"/>
            <a:ext cx="914400" cy="274320"/>
          </a:xfrm>
          <a:prstGeom prst="rect">
            <a:avLst/>
          </a:prstGeom>
          <a:noFill/>
        </p:spPr>
        <p:txBody>
          <a:bodyPr wrap="square" anchor="t" lIns="45720" rIns="45720" tIns="18288" bIns="18288">
            <a:spAutoFit/>
          </a:bodyPr>
          <a:lstStyle/>
          <a:p>
            <a:pPr algn="r"/>
            <a:r>
              <a:rPr sz="900" b="0" i="0">
                <a:solidFill>
                  <a:srgbClr val="6B7C93"/>
                </a:solidFill>
                <a:latin typeface="Calibri"/>
              </a:rPr>
              <a:t>3 /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274320"/>
          </a:xfrm>
          <a:prstGeom prst="rect">
            <a:avLst/>
          </a:prstGeom>
          <a:noFill/>
        </p:spPr>
        <p:txBody>
          <a:bodyPr wrap="square" anchor="t" lIns="45720" rIns="45720" tIns="18288" bIns="18288">
            <a:spAutoFit/>
          </a:bodyPr>
          <a:lstStyle/>
          <a:p>
            <a:pPr algn="l"/>
            <a:r>
              <a:rPr sz="1100" b="1" i="0">
                <a:solidFill>
                  <a:srgbClr val="635BFF"/>
                </a:solidFill>
                <a:latin typeface="Calibri"/>
              </a:rPr>
              <a:t>PAR CONSTRUCTION</a:t>
            </a:r>
          </a:p>
        </p:txBody>
      </p:sp>
      <p:sp>
        <p:nvSpPr>
          <p:cNvPr id="4" name="TextBox 3"/>
          <p:cNvSpPr txBox="1"/>
          <p:nvPr/>
        </p:nvSpPr>
        <p:spPr>
          <a:xfrm>
            <a:off x="548640" y="548640"/>
            <a:ext cx="11064240" cy="822960"/>
          </a:xfrm>
          <a:prstGeom prst="rect">
            <a:avLst/>
          </a:prstGeom>
          <a:noFill/>
        </p:spPr>
        <p:txBody>
          <a:bodyPr wrap="square" anchor="t" lIns="45720" rIns="45720" tIns="18288" bIns="18288">
            <a:spAutoFit/>
          </a:bodyPr>
          <a:lstStyle/>
          <a:p>
            <a:pPr algn="l"/>
            <a:r>
              <a:rPr sz="3200" b="1" i="0">
                <a:solidFill>
                  <a:srgbClr val="0A2540"/>
                </a:solidFill>
                <a:latin typeface="Calibri"/>
              </a:rPr>
              <a:t>La conformité est dans le code, le ML a une boucle de feedback</a:t>
            </a:r>
          </a:p>
        </p:txBody>
      </p:sp>
      <p:sp>
        <p:nvSpPr>
          <p:cNvPr id="5" name="TextBox 4"/>
          <p:cNvSpPr txBox="1"/>
          <p:nvPr/>
        </p:nvSpPr>
        <p:spPr>
          <a:xfrm>
            <a:off x="548640" y="1508760"/>
            <a:ext cx="5669280" cy="365760"/>
          </a:xfrm>
          <a:prstGeom prst="rect">
            <a:avLst/>
          </a:prstGeom>
          <a:noFill/>
        </p:spPr>
        <p:txBody>
          <a:bodyPr wrap="square" anchor="t" lIns="45720" rIns="45720" tIns="18288" bIns="18288">
            <a:spAutoFit/>
          </a:bodyPr>
          <a:lstStyle/>
          <a:p>
            <a:pPr algn="l"/>
            <a:r>
              <a:rPr sz="1500" b="1" i="0">
                <a:solidFill>
                  <a:srgbClr val="0A2540"/>
                </a:solidFill>
                <a:latin typeface="Calibri"/>
              </a:rPr>
              <a:t>Conformité — quatre lignes qui valent un chapitre</a:t>
            </a:r>
          </a:p>
        </p:txBody>
      </p:sp>
      <p:sp>
        <p:nvSpPr>
          <p:cNvPr id="6" name="TextBox 5"/>
          <p:cNvSpPr txBox="1"/>
          <p:nvPr/>
        </p:nvSpPr>
        <p:spPr>
          <a:xfrm>
            <a:off x="548640" y="1920240"/>
            <a:ext cx="5669280" cy="274320"/>
          </a:xfrm>
          <a:prstGeom prst="rect">
            <a:avLst/>
          </a:prstGeom>
          <a:noFill/>
        </p:spPr>
        <p:txBody>
          <a:bodyPr wrap="square" anchor="t" lIns="45720" rIns="45720" tIns="18288" bIns="18288">
            <a:spAutoFit/>
          </a:bodyPr>
          <a:lstStyle/>
          <a:p>
            <a:pPr algn="l"/>
            <a:r>
              <a:rPr sz="1100" b="1" i="0">
                <a:solidFill>
                  <a:srgbClr val="635BFF"/>
                </a:solidFill>
                <a:latin typeface="Calibri"/>
              </a:rPr>
              <a:t>Audit immuable (PostgreSQL)</a:t>
            </a:r>
          </a:p>
        </p:txBody>
      </p:sp>
      <p:sp>
        <p:nvSpPr>
          <p:cNvPr id="7" name="Rounded Rectangle 6"/>
          <p:cNvSpPr/>
          <p:nvPr/>
        </p:nvSpPr>
        <p:spPr>
          <a:xfrm>
            <a:off x="548640" y="2194560"/>
            <a:ext cx="5669280" cy="640080"/>
          </a:xfrm>
          <a:prstGeom prst="roundRect">
            <a:avLst>
              <a:gd name="adj" fmla="val 6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231136"/>
            <a:ext cx="5486400" cy="603504"/>
          </a:xfrm>
          <a:prstGeom prst="rect">
            <a:avLst/>
          </a:prstGeom>
          <a:noFill/>
        </p:spPr>
        <p:txBody>
          <a:bodyPr wrap="square" anchor="t" lIns="45720" rIns="45720" tIns="18288" bIns="18288">
            <a:spAutoFit/>
          </a:bodyPr>
          <a:lstStyle/>
          <a:p>
            <a:pPr algn="l"/>
            <a:r>
              <a:rPr sz="950" b="0" i="0">
                <a:solidFill>
                  <a:srgbClr val="D7E3F0"/>
                </a:solidFill>
                <a:latin typeface="Consolas"/>
              </a:rPr>
              <a:t>CREATE TRIGGER trg_audit_immutable</a:t>
            </a:r>
          </a:p>
          <a:p>
            <a:pPr algn="l"/>
            <a:r>
              <a:rPr sz="950" b="0" i="0">
                <a:solidFill>
                  <a:srgbClr val="D7E3F0"/>
                </a:solidFill>
                <a:latin typeface="Consolas"/>
              </a:rPr>
              <a:t>  BEFORE UPDATE OR DELETE ON audit_logs …</a:t>
            </a:r>
          </a:p>
          <a:p>
            <a:pPr algn="l"/>
            <a:r>
              <a:rPr sz="950" b="0" i="0">
                <a:solidFill>
                  <a:srgbClr val="D7E3F0"/>
                </a:solidFill>
                <a:latin typeface="Consolas"/>
              </a:rPr>
              <a:t>  RAISE EXCEPTION 'append-only'</a:t>
            </a:r>
          </a:p>
        </p:txBody>
      </p:sp>
      <p:sp>
        <p:nvSpPr>
          <p:cNvPr id="9" name="TextBox 8"/>
          <p:cNvSpPr txBox="1"/>
          <p:nvPr/>
        </p:nvSpPr>
        <p:spPr>
          <a:xfrm>
            <a:off x="548640" y="2898648"/>
            <a:ext cx="5669280" cy="274320"/>
          </a:xfrm>
          <a:prstGeom prst="rect">
            <a:avLst/>
          </a:prstGeom>
          <a:noFill/>
        </p:spPr>
        <p:txBody>
          <a:bodyPr wrap="square" anchor="t" lIns="45720" rIns="45720" tIns="18288" bIns="18288">
            <a:spAutoFit/>
          </a:bodyPr>
          <a:lstStyle/>
          <a:p>
            <a:pPr algn="l"/>
            <a:r>
              <a:rPr sz="1100" b="1" i="0">
                <a:solidFill>
                  <a:srgbClr val="635BFF"/>
                </a:solidFill>
                <a:latin typeface="Calibri"/>
              </a:rPr>
              <a:t>PII exclues du CDC (Debezium)</a:t>
            </a:r>
          </a:p>
        </p:txBody>
      </p:sp>
      <p:sp>
        <p:nvSpPr>
          <p:cNvPr id="10" name="Rounded Rectangle 9"/>
          <p:cNvSpPr/>
          <p:nvPr/>
        </p:nvSpPr>
        <p:spPr>
          <a:xfrm>
            <a:off x="548640" y="3172968"/>
            <a:ext cx="5669280" cy="640080"/>
          </a:xfrm>
          <a:prstGeom prst="roundRect">
            <a:avLst>
              <a:gd name="adj" fmla="val 6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3209544"/>
            <a:ext cx="5486400" cy="603504"/>
          </a:xfrm>
          <a:prstGeom prst="rect">
            <a:avLst/>
          </a:prstGeom>
          <a:noFill/>
        </p:spPr>
        <p:txBody>
          <a:bodyPr wrap="square" anchor="t" lIns="45720" rIns="45720" tIns="18288" bIns="18288">
            <a:spAutoFit/>
          </a:bodyPr>
          <a:lstStyle/>
          <a:p>
            <a:pPr algn="l"/>
            <a:r>
              <a:rPr sz="950" b="0" i="0">
                <a:solidFill>
                  <a:srgbClr val="D7E3F0"/>
                </a:solidFill>
                <a:latin typeface="Consolas"/>
              </a:rPr>
              <a:t>"column.exclude.list":</a:t>
            </a:r>
          </a:p>
          <a:p>
            <a:pPr algn="l"/>
            <a:r>
              <a:rPr sz="950" b="0" i="0">
                <a:solidFill>
                  <a:srgbClr val="D7E3F0"/>
                </a:solidFill>
                <a:latin typeface="Consolas"/>
              </a:rPr>
              <a:t>  "customers.email, transactions.ip_address"</a:t>
            </a:r>
          </a:p>
        </p:txBody>
      </p:sp>
      <p:sp>
        <p:nvSpPr>
          <p:cNvPr id="12" name="TextBox 11"/>
          <p:cNvSpPr txBox="1"/>
          <p:nvPr/>
        </p:nvSpPr>
        <p:spPr>
          <a:xfrm>
            <a:off x="548640" y="3877056"/>
            <a:ext cx="5669280" cy="274320"/>
          </a:xfrm>
          <a:prstGeom prst="rect">
            <a:avLst/>
          </a:prstGeom>
          <a:noFill/>
        </p:spPr>
        <p:txBody>
          <a:bodyPr wrap="square" anchor="t" lIns="45720" rIns="45720" tIns="18288" bIns="18288">
            <a:spAutoFit/>
          </a:bodyPr>
          <a:lstStyle/>
          <a:p>
            <a:pPr algn="l"/>
            <a:r>
              <a:rPr sz="1100" b="1" i="0">
                <a:solidFill>
                  <a:srgbClr val="635BFF"/>
                </a:solidFill>
                <a:latin typeface="Calibri"/>
              </a:rPr>
              <a:t>IP tronquée pour les analystes (vue)</a:t>
            </a:r>
          </a:p>
        </p:txBody>
      </p:sp>
      <p:sp>
        <p:nvSpPr>
          <p:cNvPr id="13" name="Rounded Rectangle 12"/>
          <p:cNvSpPr/>
          <p:nvPr/>
        </p:nvSpPr>
        <p:spPr>
          <a:xfrm>
            <a:off x="548640" y="4151376"/>
            <a:ext cx="5669280" cy="640080"/>
          </a:xfrm>
          <a:prstGeom prst="roundRect">
            <a:avLst>
              <a:gd name="adj" fmla="val 6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4187952"/>
            <a:ext cx="5486400" cy="603504"/>
          </a:xfrm>
          <a:prstGeom prst="rect">
            <a:avLst/>
          </a:prstGeom>
          <a:noFill/>
        </p:spPr>
        <p:txBody>
          <a:bodyPr wrap="square" anchor="t" lIns="45720" rIns="45720" tIns="18288" bIns="18288">
            <a:spAutoFit/>
          </a:bodyPr>
          <a:lstStyle/>
          <a:p>
            <a:pPr algn="l"/>
            <a:r>
              <a:rPr sz="950" b="0" i="0">
                <a:solidFill>
                  <a:srgbClr val="D7E3F0"/>
                </a:solidFill>
                <a:latin typeface="Consolas"/>
              </a:rPr>
              <a:t>host(set_masklen(ip_address::cidr, 24))</a:t>
            </a:r>
          </a:p>
          <a:p>
            <a:pPr algn="l"/>
            <a:r>
              <a:rPr sz="950" b="0" i="0">
                <a:solidFill>
                  <a:srgbClr val="D7E3F0"/>
                </a:solidFill>
                <a:latin typeface="Consolas"/>
              </a:rPr>
              <a:t>  -- 185.12.44.21 → 185.12.44.0</a:t>
            </a:r>
          </a:p>
        </p:txBody>
      </p:sp>
      <p:sp>
        <p:nvSpPr>
          <p:cNvPr id="15" name="TextBox 14"/>
          <p:cNvSpPr txBox="1"/>
          <p:nvPr/>
        </p:nvSpPr>
        <p:spPr>
          <a:xfrm>
            <a:off x="548640" y="4855464"/>
            <a:ext cx="5669280" cy="274320"/>
          </a:xfrm>
          <a:prstGeom prst="rect">
            <a:avLst/>
          </a:prstGeom>
          <a:noFill/>
        </p:spPr>
        <p:txBody>
          <a:bodyPr wrap="square" anchor="t" lIns="45720" rIns="45720" tIns="18288" bIns="18288">
            <a:spAutoFit/>
          </a:bodyPr>
          <a:lstStyle/>
          <a:p>
            <a:pPr algn="l"/>
            <a:r>
              <a:rPr sz="1100" b="1" i="0">
                <a:solidFill>
                  <a:srgbClr val="635BFF"/>
                </a:solidFill>
                <a:latin typeface="Calibri"/>
              </a:rPr>
              <a:t>Contrôle PII bloquant (dbt / DAG)</a:t>
            </a:r>
          </a:p>
        </p:txBody>
      </p:sp>
      <p:sp>
        <p:nvSpPr>
          <p:cNvPr id="16" name="Rounded Rectangle 15"/>
          <p:cNvSpPr/>
          <p:nvPr/>
        </p:nvSpPr>
        <p:spPr>
          <a:xfrm>
            <a:off x="548640" y="5129784"/>
            <a:ext cx="5669280" cy="640080"/>
          </a:xfrm>
          <a:prstGeom prst="roundRect">
            <a:avLst>
              <a:gd name="adj" fmla="val 6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166360"/>
            <a:ext cx="5486400" cy="603504"/>
          </a:xfrm>
          <a:prstGeom prst="rect">
            <a:avLst/>
          </a:prstGeom>
          <a:noFill/>
        </p:spPr>
        <p:txBody>
          <a:bodyPr wrap="square" anchor="t" lIns="45720" rIns="45720" tIns="18288" bIns="18288">
            <a:spAutoFit/>
          </a:bodyPr>
          <a:lstStyle/>
          <a:p>
            <a:pPr algn="l"/>
            <a:r>
              <a:rPr sz="950" b="0" i="0">
                <a:solidFill>
                  <a:srgbClr val="D7E3F0"/>
                </a:solidFill>
                <a:latin typeface="Consolas"/>
              </a:rPr>
              <a:t>dim_customer.email_hash:</a:t>
            </a:r>
          </a:p>
          <a:p>
            <a:pPr algn="l"/>
            <a:r>
              <a:rPr sz="950" b="0" i="0">
                <a:solidFill>
                  <a:srgbClr val="D7E3F0"/>
                </a:solidFill>
                <a:latin typeface="Consolas"/>
              </a:rPr>
              <a:t>  not_accepted_values: ['%@%']   # DAG rouge</a:t>
            </a:r>
          </a:p>
        </p:txBody>
      </p:sp>
      <p:sp>
        <p:nvSpPr>
          <p:cNvPr id="18" name="TextBox 17"/>
          <p:cNvSpPr txBox="1"/>
          <p:nvPr/>
        </p:nvSpPr>
        <p:spPr>
          <a:xfrm>
            <a:off x="548640" y="5897880"/>
            <a:ext cx="5669280" cy="502920"/>
          </a:xfrm>
          <a:prstGeom prst="rect">
            <a:avLst/>
          </a:prstGeom>
          <a:noFill/>
        </p:spPr>
        <p:txBody>
          <a:bodyPr wrap="square" anchor="t" lIns="45720" rIns="45720" tIns="18288" bIns="18288">
            <a:spAutoFit/>
          </a:bodyPr>
          <a:lstStyle/>
          <a:p>
            <a:pPr algn="l"/>
            <a:r>
              <a:rPr sz="1000" b="0" i="1">
                <a:solidFill>
                  <a:srgbClr val="6B7C93"/>
                </a:solidFill>
                <a:latin typeface="Calibri"/>
              </a:rPr>
              <a:t>Aucun numéro de carte nulle part (tokenisation) · droit à l'oubli = un DAG qui détache l'identité sans supprimer les faits comptables (10 ans).</a:t>
            </a:r>
          </a:p>
        </p:txBody>
      </p:sp>
      <p:sp>
        <p:nvSpPr>
          <p:cNvPr id="19" name="TextBox 18"/>
          <p:cNvSpPr txBox="1"/>
          <p:nvPr/>
        </p:nvSpPr>
        <p:spPr>
          <a:xfrm>
            <a:off x="6675120" y="1508760"/>
            <a:ext cx="5029200" cy="365760"/>
          </a:xfrm>
          <a:prstGeom prst="rect">
            <a:avLst/>
          </a:prstGeom>
          <a:noFill/>
        </p:spPr>
        <p:txBody>
          <a:bodyPr wrap="square" anchor="t" lIns="45720" rIns="45720" tIns="18288" bIns="18288">
            <a:spAutoFit/>
          </a:bodyPr>
          <a:lstStyle/>
          <a:p>
            <a:pPr algn="l"/>
            <a:r>
              <a:rPr sz="1500" b="1" i="0">
                <a:solidFill>
                  <a:srgbClr val="0A2540"/>
                </a:solidFill>
                <a:latin typeface="Calibri"/>
              </a:rPr>
              <a:t>ML — la boucle qui apprend des chargebacks</a:t>
            </a:r>
          </a:p>
        </p:txBody>
      </p:sp>
      <p:sp>
        <p:nvSpPr>
          <p:cNvPr id="20" name="Rounded Rectangle 19"/>
          <p:cNvSpPr/>
          <p:nvPr/>
        </p:nvSpPr>
        <p:spPr>
          <a:xfrm>
            <a:off x="6675120" y="1965960"/>
            <a:ext cx="2377440" cy="960120"/>
          </a:xfrm>
          <a:prstGeom prst="roundRect">
            <a:avLst>
              <a:gd name="adj" fmla="val 10000"/>
            </a:avLst>
          </a:prstGeom>
          <a:solidFill>
            <a:srgbClr val="F6F9FC"/>
          </a:solidFill>
          <a:ln w="12700">
            <a:solidFill>
              <a:srgbClr val="00B4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66559" y="2039112"/>
            <a:ext cx="2194560" cy="292608"/>
          </a:xfrm>
          <a:prstGeom prst="rect">
            <a:avLst/>
          </a:prstGeom>
          <a:noFill/>
        </p:spPr>
        <p:txBody>
          <a:bodyPr wrap="square" anchor="t" lIns="45720" rIns="45720" tIns="18288" bIns="18288">
            <a:spAutoFit/>
          </a:bodyPr>
          <a:lstStyle/>
          <a:p>
            <a:pPr algn="ctr"/>
            <a:r>
              <a:rPr sz="1200" b="1" i="0">
                <a:solidFill>
                  <a:srgbClr val="00B4D8"/>
                </a:solidFill>
                <a:latin typeface="Calibri"/>
              </a:rPr>
              <a:t>Règles dures</a:t>
            </a:r>
          </a:p>
        </p:txBody>
      </p:sp>
      <p:sp>
        <p:nvSpPr>
          <p:cNvPr id="22" name="TextBox 21"/>
          <p:cNvSpPr txBox="1"/>
          <p:nvPr/>
        </p:nvSpPr>
        <p:spPr>
          <a:xfrm>
            <a:off x="6766559" y="2331720"/>
            <a:ext cx="2194560" cy="566928"/>
          </a:xfrm>
          <a:prstGeom prst="rect">
            <a:avLst/>
          </a:prstGeom>
          <a:noFill/>
        </p:spPr>
        <p:txBody>
          <a:bodyPr wrap="square" anchor="t" lIns="45720" rIns="45720" tIns="18288" bIns="18288">
            <a:spAutoFit/>
          </a:bodyPr>
          <a:lstStyle/>
          <a:p>
            <a:pPr algn="ctr"/>
            <a:r>
              <a:rPr sz="950" b="0" i="0">
                <a:solidFill>
                  <a:srgbClr val="1F2A44"/>
                </a:solidFill>
                <a:latin typeface="Calibri"/>
              </a:rPr>
              <a:t>sanctions, listes noires
&lt; 5 ms</a:t>
            </a:r>
          </a:p>
        </p:txBody>
      </p:sp>
      <p:sp>
        <p:nvSpPr>
          <p:cNvPr id="23" name="Rounded Rectangle 22"/>
          <p:cNvSpPr/>
          <p:nvPr/>
        </p:nvSpPr>
        <p:spPr>
          <a:xfrm>
            <a:off x="9326880" y="1965960"/>
            <a:ext cx="2377440" cy="960120"/>
          </a:xfrm>
          <a:prstGeom prst="roundRect">
            <a:avLst>
              <a:gd name="adj" fmla="val 10000"/>
            </a:avLst>
          </a:prstGeom>
          <a:solidFill>
            <a:srgbClr val="F6F9FC"/>
          </a:solidFill>
          <a:ln w="12700">
            <a:solidFill>
              <a:srgbClr val="F58A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18319" y="2039112"/>
            <a:ext cx="2194560" cy="292608"/>
          </a:xfrm>
          <a:prstGeom prst="rect">
            <a:avLst/>
          </a:prstGeom>
          <a:noFill/>
        </p:spPr>
        <p:txBody>
          <a:bodyPr wrap="square" anchor="t" lIns="45720" rIns="45720" tIns="18288" bIns="18288">
            <a:spAutoFit/>
          </a:bodyPr>
          <a:lstStyle/>
          <a:p>
            <a:pPr algn="ctr"/>
            <a:r>
              <a:rPr sz="1200" b="1" i="0">
                <a:solidFill>
                  <a:srgbClr val="F58A07"/>
                </a:solidFill>
                <a:latin typeface="Calibri"/>
              </a:rPr>
              <a:t>Modèle XGBoost</a:t>
            </a:r>
          </a:p>
        </p:txBody>
      </p:sp>
      <p:sp>
        <p:nvSpPr>
          <p:cNvPr id="25" name="TextBox 24"/>
          <p:cNvSpPr txBox="1"/>
          <p:nvPr/>
        </p:nvSpPr>
        <p:spPr>
          <a:xfrm>
            <a:off x="9418319" y="2331720"/>
            <a:ext cx="2194560" cy="566928"/>
          </a:xfrm>
          <a:prstGeom prst="rect">
            <a:avLst/>
          </a:prstGeom>
          <a:noFill/>
        </p:spPr>
        <p:txBody>
          <a:bodyPr wrap="square" anchor="t" lIns="45720" rIns="45720" tIns="18288" bIns="18288">
            <a:spAutoFit/>
          </a:bodyPr>
          <a:lstStyle/>
          <a:p>
            <a:pPr algn="ctr"/>
            <a:r>
              <a:rPr sz="950" b="0" i="0">
                <a:solidFill>
                  <a:srgbClr val="1F2A44"/>
                </a:solidFill>
                <a:latin typeface="Calibri"/>
              </a:rPr>
              <a:t>AUC-PR 0,43 vs 0,09
115 ms</a:t>
            </a:r>
          </a:p>
        </p:txBody>
      </p:sp>
      <p:sp>
        <p:nvSpPr>
          <p:cNvPr id="26" name="Rounded Rectangle 25"/>
          <p:cNvSpPr/>
          <p:nvPr/>
        </p:nvSpPr>
        <p:spPr>
          <a:xfrm>
            <a:off x="9326880" y="3200400"/>
            <a:ext cx="2377440" cy="960120"/>
          </a:xfrm>
          <a:prstGeom prst="roundRect">
            <a:avLst>
              <a:gd name="adj" fmla="val 10000"/>
            </a:avLst>
          </a:prstGeom>
          <a:solidFill>
            <a:srgbClr val="F6F9FC"/>
          </a:solidFill>
          <a:ln w="12700">
            <a:solidFill>
              <a:srgbClr val="635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418319" y="3273552"/>
            <a:ext cx="2194560" cy="292608"/>
          </a:xfrm>
          <a:prstGeom prst="rect">
            <a:avLst/>
          </a:prstGeom>
          <a:noFill/>
        </p:spPr>
        <p:txBody>
          <a:bodyPr wrap="square" anchor="t" lIns="45720" rIns="45720" tIns="18288" bIns="18288">
            <a:spAutoFit/>
          </a:bodyPr>
          <a:lstStyle/>
          <a:p>
            <a:pPr algn="ctr"/>
            <a:r>
              <a:rPr sz="1200" b="1" i="0">
                <a:solidFill>
                  <a:srgbClr val="635BFF"/>
                </a:solidFill>
                <a:latin typeface="Calibri"/>
              </a:rPr>
              <a:t>Politique d'action</a:t>
            </a:r>
          </a:p>
        </p:txBody>
      </p:sp>
      <p:sp>
        <p:nvSpPr>
          <p:cNvPr id="28" name="TextBox 27"/>
          <p:cNvSpPr txBox="1"/>
          <p:nvPr/>
        </p:nvSpPr>
        <p:spPr>
          <a:xfrm>
            <a:off x="9418319" y="3566160"/>
            <a:ext cx="2194560" cy="566928"/>
          </a:xfrm>
          <a:prstGeom prst="rect">
            <a:avLst/>
          </a:prstGeom>
          <a:noFill/>
        </p:spPr>
        <p:txBody>
          <a:bodyPr wrap="square" anchor="t" lIns="45720" rIns="45720" tIns="18288" bIns="18288">
            <a:spAutoFit/>
          </a:bodyPr>
          <a:lstStyle/>
          <a:p>
            <a:pPr algn="ctr"/>
            <a:r>
              <a:rPr sz="950" b="0" i="0">
                <a:solidFill>
                  <a:srgbClr val="1F2A44"/>
                </a:solidFill>
                <a:latin typeface="Calibri"/>
              </a:rPr>
              <a:t>allow · 3DS · review · block
seuils sans réentraîner</a:t>
            </a:r>
          </a:p>
        </p:txBody>
      </p:sp>
      <p:sp>
        <p:nvSpPr>
          <p:cNvPr id="29" name="Rounded Rectangle 28"/>
          <p:cNvSpPr/>
          <p:nvPr/>
        </p:nvSpPr>
        <p:spPr>
          <a:xfrm>
            <a:off x="9326880" y="4434840"/>
            <a:ext cx="2377440" cy="960120"/>
          </a:xfrm>
          <a:prstGeom prst="roundRect">
            <a:avLst>
              <a:gd name="adj" fmla="val 10000"/>
            </a:avLst>
          </a:prstGeom>
          <a:solidFill>
            <a:srgbClr val="F6F9FC"/>
          </a:solidFill>
          <a:ln w="12700">
            <a:solidFill>
              <a:srgbClr val="15BE5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18319" y="4507992"/>
            <a:ext cx="2194560" cy="292608"/>
          </a:xfrm>
          <a:prstGeom prst="rect">
            <a:avLst/>
          </a:prstGeom>
          <a:noFill/>
        </p:spPr>
        <p:txBody>
          <a:bodyPr wrap="square" anchor="t" lIns="45720" rIns="45720" tIns="18288" bIns="18288">
            <a:spAutoFit/>
          </a:bodyPr>
          <a:lstStyle/>
          <a:p>
            <a:pPr algn="ctr"/>
            <a:r>
              <a:rPr sz="1200" b="1" i="0">
                <a:solidFill>
                  <a:srgbClr val="15BE53"/>
                </a:solidFill>
                <a:latin typeface="Calibri"/>
              </a:rPr>
              <a:t>Revue analystes</a:t>
            </a:r>
          </a:p>
        </p:txBody>
      </p:sp>
      <p:sp>
        <p:nvSpPr>
          <p:cNvPr id="31" name="TextBox 30"/>
          <p:cNvSpPr txBox="1"/>
          <p:nvPr/>
        </p:nvSpPr>
        <p:spPr>
          <a:xfrm>
            <a:off x="9418319" y="4800600"/>
            <a:ext cx="2194560" cy="566928"/>
          </a:xfrm>
          <a:prstGeom prst="rect">
            <a:avLst/>
          </a:prstGeom>
          <a:noFill/>
        </p:spPr>
        <p:txBody>
          <a:bodyPr wrap="square" anchor="t" lIns="45720" rIns="45720" tIns="18288" bIns="18288">
            <a:spAutoFit/>
          </a:bodyPr>
          <a:lstStyle/>
          <a:p>
            <a:pPr algn="ctr"/>
            <a:r>
              <a:rPr sz="950" b="0" i="0">
                <a:solidFill>
                  <a:srgbClr val="1F2A44"/>
                </a:solidFill>
                <a:latin typeface="Calibri"/>
              </a:rPr>
              <a:t>zone grise → labels
(biais de survie)</a:t>
            </a:r>
          </a:p>
        </p:txBody>
      </p:sp>
      <p:sp>
        <p:nvSpPr>
          <p:cNvPr id="32" name="Rounded Rectangle 31"/>
          <p:cNvSpPr/>
          <p:nvPr/>
        </p:nvSpPr>
        <p:spPr>
          <a:xfrm>
            <a:off x="6675120" y="4434840"/>
            <a:ext cx="2377440" cy="960120"/>
          </a:xfrm>
          <a:prstGeom prst="roundRect">
            <a:avLst>
              <a:gd name="adj" fmla="val 10000"/>
            </a:avLst>
          </a:prstGeom>
          <a:solidFill>
            <a:srgbClr val="F6F9FC"/>
          </a:solidFill>
          <a:ln w="12700">
            <a:solidFill>
              <a:srgbClr val="E548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66559" y="4507992"/>
            <a:ext cx="2194560" cy="292608"/>
          </a:xfrm>
          <a:prstGeom prst="rect">
            <a:avLst/>
          </a:prstGeom>
          <a:noFill/>
        </p:spPr>
        <p:txBody>
          <a:bodyPr wrap="square" anchor="t" lIns="45720" rIns="45720" tIns="18288" bIns="18288">
            <a:spAutoFit/>
          </a:bodyPr>
          <a:lstStyle/>
          <a:p>
            <a:pPr algn="ctr"/>
            <a:r>
              <a:rPr sz="1200" b="1" i="0">
                <a:solidFill>
                  <a:srgbClr val="E54848"/>
                </a:solidFill>
                <a:latin typeface="Calibri"/>
              </a:rPr>
              <a:t>Chargeback J+20…90</a:t>
            </a:r>
          </a:p>
        </p:txBody>
      </p:sp>
      <p:sp>
        <p:nvSpPr>
          <p:cNvPr id="34" name="TextBox 33"/>
          <p:cNvSpPr txBox="1"/>
          <p:nvPr/>
        </p:nvSpPr>
        <p:spPr>
          <a:xfrm>
            <a:off x="6766559" y="4800600"/>
            <a:ext cx="2194560" cy="566928"/>
          </a:xfrm>
          <a:prstGeom prst="rect">
            <a:avLst/>
          </a:prstGeom>
          <a:noFill/>
        </p:spPr>
        <p:txBody>
          <a:bodyPr wrap="square" anchor="t" lIns="45720" rIns="45720" tIns="18288" bIns="18288">
            <a:spAutoFit/>
          </a:bodyPr>
          <a:lstStyle/>
          <a:p>
            <a:pPr algn="ctr"/>
            <a:r>
              <a:rPr sz="950" b="0" i="0">
                <a:solidFill>
                  <a:srgbClr val="1F2A44"/>
                </a:solidFill>
                <a:latin typeface="Calibri"/>
              </a:rPr>
              <a:t>vérité terrain
→ label.is_fraud</a:t>
            </a:r>
          </a:p>
        </p:txBody>
      </p:sp>
      <p:sp>
        <p:nvSpPr>
          <p:cNvPr id="35" name="Rounded Rectangle 34"/>
          <p:cNvSpPr/>
          <p:nvPr/>
        </p:nvSpPr>
        <p:spPr>
          <a:xfrm>
            <a:off x="6675120" y="3200400"/>
            <a:ext cx="2377440" cy="960120"/>
          </a:xfrm>
          <a:prstGeom prst="roundRect">
            <a:avLst>
              <a:gd name="adj" fmla="val 10000"/>
            </a:avLst>
          </a:prstGeom>
          <a:solidFill>
            <a:srgbClr val="F6F9FC"/>
          </a:solidFill>
          <a:ln w="12700">
            <a:solidFill>
              <a:srgbClr val="15BE5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66559" y="3273552"/>
            <a:ext cx="2194560" cy="292608"/>
          </a:xfrm>
          <a:prstGeom prst="rect">
            <a:avLst/>
          </a:prstGeom>
          <a:noFill/>
        </p:spPr>
        <p:txBody>
          <a:bodyPr wrap="square" anchor="t" lIns="45720" rIns="45720" tIns="18288" bIns="18288">
            <a:spAutoFit/>
          </a:bodyPr>
          <a:lstStyle/>
          <a:p>
            <a:pPr algn="ctr"/>
            <a:r>
              <a:rPr sz="1200" b="1" i="0">
                <a:solidFill>
                  <a:srgbClr val="15BE53"/>
                </a:solidFill>
                <a:latin typeface="Calibri"/>
              </a:rPr>
              <a:t>Réentraînement</a:t>
            </a:r>
          </a:p>
        </p:txBody>
      </p:sp>
      <p:sp>
        <p:nvSpPr>
          <p:cNvPr id="37" name="TextBox 36"/>
          <p:cNvSpPr txBox="1"/>
          <p:nvPr/>
        </p:nvSpPr>
        <p:spPr>
          <a:xfrm>
            <a:off x="6766559" y="3566160"/>
            <a:ext cx="2194560" cy="566928"/>
          </a:xfrm>
          <a:prstGeom prst="rect">
            <a:avLst/>
          </a:prstGeom>
          <a:noFill/>
        </p:spPr>
        <p:txBody>
          <a:bodyPr wrap="square" anchor="t" lIns="45720" rIns="45720" tIns="18288" bIns="18288">
            <a:spAutoFit/>
          </a:bodyPr>
          <a:lstStyle/>
          <a:p>
            <a:pPr algn="ctr"/>
            <a:r>
              <a:rPr sz="950" b="0" i="0">
                <a:solidFill>
                  <a:srgbClr val="1F2A44"/>
                </a:solidFill>
                <a:latin typeface="Calibri"/>
              </a:rPr>
              <a:t>dataset mature · shadow →
canary · 3 dérives</a:t>
            </a:r>
          </a:p>
        </p:txBody>
      </p:sp>
      <p:cxnSp>
        <p:nvCxnSpPr>
          <p:cNvPr id="38" name="Connector 37"/>
          <p:cNvCxnSpPr/>
          <p:nvPr/>
        </p:nvCxnSpPr>
        <p:spPr>
          <a:xfrm>
            <a:off x="9052560" y="2446020"/>
            <a:ext cx="274320" cy="0"/>
          </a:xfrm>
          <a:prstGeom prst="line">
            <a:avLst/>
          </a:prstGeom>
          <a:ln w="19050">
            <a:solidFill>
              <a:srgbClr val="6B7C9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515600" y="2926080"/>
            <a:ext cx="0" cy="274320"/>
          </a:xfrm>
          <a:prstGeom prst="line">
            <a:avLst/>
          </a:prstGeom>
          <a:ln w="19050">
            <a:solidFill>
              <a:srgbClr val="6B7C9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515600" y="4160520"/>
            <a:ext cx="0" cy="274320"/>
          </a:xfrm>
          <a:prstGeom prst="line">
            <a:avLst/>
          </a:prstGeom>
          <a:ln w="19050">
            <a:solidFill>
              <a:srgbClr val="6B7C9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9052560" y="4914900"/>
            <a:ext cx="274320" cy="0"/>
          </a:xfrm>
          <a:prstGeom prst="line">
            <a:avLst/>
          </a:prstGeom>
          <a:ln w="19050">
            <a:solidFill>
              <a:srgbClr val="6B7C9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7863840" y="4160520"/>
            <a:ext cx="0" cy="274320"/>
          </a:xfrm>
          <a:prstGeom prst="line">
            <a:avLst/>
          </a:prstGeom>
          <a:ln w="19050">
            <a:solidFill>
              <a:srgbClr val="6B7C9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7863840" y="2926080"/>
            <a:ext cx="0" cy="274320"/>
          </a:xfrm>
          <a:prstGeom prst="line">
            <a:avLst/>
          </a:prstGeom>
          <a:ln w="19050">
            <a:solidFill>
              <a:srgbClr val="6B7C93"/>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675120" y="5623560"/>
            <a:ext cx="5029200" cy="640080"/>
          </a:xfrm>
          <a:prstGeom prst="rect">
            <a:avLst/>
          </a:prstGeom>
          <a:noFill/>
        </p:spPr>
        <p:txBody>
          <a:bodyPr wrap="square" anchor="t" lIns="45720" rIns="45720" tIns="18288" bIns="18288">
            <a:spAutoFit/>
          </a:bodyPr>
          <a:lstStyle/>
          <a:p>
            <a:pPr algn="l"/>
            <a:r>
              <a:rPr sz="1000" b="0" i="1">
                <a:solidFill>
                  <a:srgbClr val="6B7C93"/>
                </a:solidFill>
                <a:latin typeface="Calibri"/>
              </a:rPr>
              <a:t>Une transaction bloquée n'est jamais contestée : sans revue humaine, le modèle ne réapprendrait que ses propres erreurs.</a:t>
            </a:r>
          </a:p>
        </p:txBody>
      </p:sp>
      <p:sp>
        <p:nvSpPr>
          <p:cNvPr id="45" name="TextBox 44"/>
          <p:cNvSpPr txBox="1"/>
          <p:nvPr/>
        </p:nvSpPr>
        <p:spPr>
          <a:xfrm>
            <a:off x="548640" y="6446520"/>
            <a:ext cx="9144000" cy="274320"/>
          </a:xfrm>
          <a:prstGeom prst="rect">
            <a:avLst/>
          </a:prstGeom>
          <a:noFill/>
        </p:spPr>
        <p:txBody>
          <a:bodyPr wrap="square" anchor="t" lIns="45720" rIns="45720" tIns="18288" bIns="18288">
            <a:spAutoFit/>
          </a:bodyPr>
          <a:lstStyle/>
          <a:p>
            <a:pPr algn="l"/>
            <a:r>
              <a:rPr sz="900" b="0" i="0">
                <a:solidFill>
                  <a:srgbClr val="6B7C93"/>
                </a:solidFill>
                <a:latin typeface="Calibri"/>
              </a:rPr>
              <a:t>Stripe — architecture de données · Emeline ROBLOT — Data Engineer · Septembre 2026</a:t>
            </a:r>
          </a:p>
        </p:txBody>
      </p:sp>
      <p:sp>
        <p:nvSpPr>
          <p:cNvPr id="46" name="TextBox 45"/>
          <p:cNvSpPr txBox="1"/>
          <p:nvPr/>
        </p:nvSpPr>
        <p:spPr>
          <a:xfrm>
            <a:off x="10698480" y="6446520"/>
            <a:ext cx="914400" cy="274320"/>
          </a:xfrm>
          <a:prstGeom prst="rect">
            <a:avLst/>
          </a:prstGeom>
          <a:noFill/>
        </p:spPr>
        <p:txBody>
          <a:bodyPr wrap="square" anchor="t" lIns="45720" rIns="45720" tIns="18288" bIns="18288">
            <a:spAutoFit/>
          </a:bodyPr>
          <a:lstStyle/>
          <a:p>
            <a:pPr algn="r"/>
            <a:r>
              <a:rPr sz="900" b="0" i="0">
                <a:solidFill>
                  <a:srgbClr val="6B7C93"/>
                </a:solidFill>
                <a:latin typeface="Calibri"/>
              </a:rPr>
              <a:t>4 / 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274320"/>
          </a:xfrm>
          <a:prstGeom prst="rect">
            <a:avLst/>
          </a:prstGeom>
          <a:noFill/>
        </p:spPr>
        <p:txBody>
          <a:bodyPr wrap="square" anchor="t" lIns="45720" rIns="45720" tIns="18288" bIns="18288">
            <a:spAutoFit/>
          </a:bodyPr>
          <a:lstStyle/>
          <a:p>
            <a:pPr algn="l"/>
            <a:r>
              <a:rPr sz="1100" b="1" i="0">
                <a:solidFill>
                  <a:srgbClr val="00B4D8"/>
                </a:solidFill>
                <a:latin typeface="Calibri"/>
              </a:rPr>
              <a:t>DÉPLOIEMENT</a:t>
            </a:r>
          </a:p>
        </p:txBody>
      </p:sp>
      <p:sp>
        <p:nvSpPr>
          <p:cNvPr id="4" name="TextBox 3"/>
          <p:cNvSpPr txBox="1"/>
          <p:nvPr/>
        </p:nvSpPr>
        <p:spPr>
          <a:xfrm>
            <a:off x="548640" y="548640"/>
            <a:ext cx="11064240" cy="822960"/>
          </a:xfrm>
          <a:prstGeom prst="rect">
            <a:avLst/>
          </a:prstGeom>
          <a:noFill/>
        </p:spPr>
        <p:txBody>
          <a:bodyPr wrap="square" anchor="t" lIns="45720" rIns="45720" tIns="18288" bIns="18288">
            <a:spAutoFit/>
          </a:bodyPr>
          <a:lstStyle/>
          <a:p>
            <a:pPr algn="l"/>
            <a:r>
              <a:rPr sz="3200" b="1" i="0">
                <a:solidFill>
                  <a:srgbClr val="FFFFFF"/>
                </a:solidFill>
                <a:latin typeface="Calibri"/>
              </a:rPr>
              <a:t>En production sur AWS — le pipeline tourne chaque nuit</a:t>
            </a:r>
          </a:p>
        </p:txBody>
      </p:sp>
      <p:sp>
        <p:nvSpPr>
          <p:cNvPr id="5" name="TextBox 4"/>
          <p:cNvSpPr txBox="1"/>
          <p:nvPr/>
        </p:nvSpPr>
        <p:spPr>
          <a:xfrm>
            <a:off x="548640" y="1508760"/>
            <a:ext cx="5852160" cy="365760"/>
          </a:xfrm>
          <a:prstGeom prst="rect">
            <a:avLst/>
          </a:prstGeom>
          <a:noFill/>
        </p:spPr>
        <p:txBody>
          <a:bodyPr wrap="square" anchor="t" lIns="45720" rIns="45720" tIns="18288" bIns="18288">
            <a:spAutoFit/>
          </a:bodyPr>
          <a:lstStyle/>
          <a:p>
            <a:pPr algn="l"/>
            <a:r>
              <a:rPr sz="1400" b="1" i="0">
                <a:solidFill>
                  <a:srgbClr val="00B4D8"/>
                </a:solidFill>
                <a:latin typeface="Calibri"/>
              </a:rPr>
              <a:t>Infrastructure (Terraform, 19 ressources, eu-north-1)</a:t>
            </a:r>
          </a:p>
        </p:txBody>
      </p:sp>
      <p:sp>
        <p:nvSpPr>
          <p:cNvPr id="6" name="Rounded Rectangle 5"/>
          <p:cNvSpPr/>
          <p:nvPr/>
        </p:nvSpPr>
        <p:spPr>
          <a:xfrm>
            <a:off x="548640" y="1965960"/>
            <a:ext cx="1463040" cy="731520"/>
          </a:xfrm>
          <a:prstGeom prst="roundRect">
            <a:avLst>
              <a:gd name="adj" fmla="val 12000"/>
            </a:avLst>
          </a:prstGeom>
          <a:solidFill>
            <a:srgbClr val="143355"/>
          </a:solidFill>
          <a:ln w="12700">
            <a:solidFill>
              <a:srgbClr val="00B4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2039112"/>
            <a:ext cx="1316736" cy="310896"/>
          </a:xfrm>
          <a:prstGeom prst="rect">
            <a:avLst/>
          </a:prstGeom>
          <a:noFill/>
        </p:spPr>
        <p:txBody>
          <a:bodyPr wrap="square" anchor="t" lIns="45720" rIns="45720" tIns="18288" bIns="18288">
            <a:spAutoFit/>
          </a:bodyPr>
          <a:lstStyle/>
          <a:p>
            <a:pPr algn="ctr"/>
            <a:r>
              <a:rPr sz="1100" b="1" i="0">
                <a:solidFill>
                  <a:srgbClr val="FFFFFF"/>
                </a:solidFill>
                <a:latin typeface="Calibri"/>
              </a:rPr>
              <a:t>terraform apply</a:t>
            </a:r>
          </a:p>
        </p:txBody>
      </p:sp>
      <p:sp>
        <p:nvSpPr>
          <p:cNvPr id="8" name="TextBox 7"/>
          <p:cNvSpPr txBox="1"/>
          <p:nvPr/>
        </p:nvSpPr>
        <p:spPr>
          <a:xfrm>
            <a:off x="621792" y="2331720"/>
            <a:ext cx="1316736" cy="320040"/>
          </a:xfrm>
          <a:prstGeom prst="rect">
            <a:avLst/>
          </a:prstGeom>
          <a:noFill/>
        </p:spPr>
        <p:txBody>
          <a:bodyPr wrap="square" anchor="t" lIns="45720" rIns="45720" tIns="18288" bIns="18288">
            <a:spAutoFit/>
          </a:bodyPr>
          <a:lstStyle/>
          <a:p>
            <a:pPr algn="ctr"/>
            <a:r>
              <a:rPr sz="900" b="0" i="0">
                <a:solidFill>
                  <a:srgbClr val="C9D6E5"/>
                </a:solidFill>
                <a:latin typeface="Calibri"/>
              </a:rPr>
              <a:t>GitHub → cloud-init</a:t>
            </a:r>
          </a:p>
        </p:txBody>
      </p:sp>
      <p:sp>
        <p:nvSpPr>
          <p:cNvPr id="9" name="Rounded Rectangle 8"/>
          <p:cNvSpPr/>
          <p:nvPr/>
        </p:nvSpPr>
        <p:spPr>
          <a:xfrm>
            <a:off x="2468880" y="1965960"/>
            <a:ext cx="2103120" cy="1417320"/>
          </a:xfrm>
          <a:prstGeom prst="roundRect">
            <a:avLst>
              <a:gd name="adj" fmla="val 12000"/>
            </a:avLst>
          </a:prstGeom>
          <a:solidFill>
            <a:srgbClr val="143355"/>
          </a:solidFill>
          <a:ln w="12700">
            <a:solidFill>
              <a:srgbClr val="F58A0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42032" y="2039112"/>
            <a:ext cx="1956815" cy="310896"/>
          </a:xfrm>
          <a:prstGeom prst="rect">
            <a:avLst/>
          </a:prstGeom>
          <a:noFill/>
        </p:spPr>
        <p:txBody>
          <a:bodyPr wrap="square" anchor="t" lIns="45720" rIns="45720" tIns="18288" bIns="18288">
            <a:spAutoFit/>
          </a:bodyPr>
          <a:lstStyle/>
          <a:p>
            <a:pPr algn="ctr"/>
            <a:r>
              <a:rPr sz="1200" b="1" i="0">
                <a:solidFill>
                  <a:srgbClr val="FFFFFF"/>
                </a:solidFill>
                <a:latin typeface="Calibri"/>
              </a:rPr>
              <a:t>EC2 m7i-flex.large</a:t>
            </a:r>
          </a:p>
        </p:txBody>
      </p:sp>
      <p:sp>
        <p:nvSpPr>
          <p:cNvPr id="11" name="TextBox 10"/>
          <p:cNvSpPr txBox="1"/>
          <p:nvPr/>
        </p:nvSpPr>
        <p:spPr>
          <a:xfrm>
            <a:off x="2542032" y="2331720"/>
            <a:ext cx="1956815" cy="1005840"/>
          </a:xfrm>
          <a:prstGeom prst="rect">
            <a:avLst/>
          </a:prstGeom>
          <a:noFill/>
        </p:spPr>
        <p:txBody>
          <a:bodyPr wrap="square" anchor="t" lIns="45720" rIns="45720" tIns="18288" bIns="18288">
            <a:spAutoFit/>
          </a:bodyPr>
          <a:lstStyle/>
          <a:p>
            <a:pPr algn="ctr"/>
            <a:r>
              <a:rPr sz="950" b="0" i="0">
                <a:solidFill>
                  <a:srgbClr val="C9D6E5"/>
                </a:solidFill>
                <a:latin typeface="Calibri"/>
              </a:rPr>
              <a:t>Airflow 2.10 (LocalExecutor)
MongoDB 7 replica set
docker compose</a:t>
            </a:r>
          </a:p>
        </p:txBody>
      </p:sp>
      <p:sp>
        <p:nvSpPr>
          <p:cNvPr id="12" name="Rounded Rectangle 11"/>
          <p:cNvSpPr/>
          <p:nvPr/>
        </p:nvSpPr>
        <p:spPr>
          <a:xfrm>
            <a:off x="5029200" y="1965960"/>
            <a:ext cx="1371600" cy="658368"/>
          </a:xfrm>
          <a:prstGeom prst="roundRect">
            <a:avLst>
              <a:gd name="adj" fmla="val 12000"/>
            </a:avLst>
          </a:prstGeom>
          <a:solidFill>
            <a:srgbClr val="143355"/>
          </a:solidFill>
          <a:ln w="12700">
            <a:solidFill>
              <a:srgbClr val="00B4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02352" y="2039112"/>
            <a:ext cx="1225296" cy="310896"/>
          </a:xfrm>
          <a:prstGeom prst="rect">
            <a:avLst/>
          </a:prstGeom>
          <a:noFill/>
        </p:spPr>
        <p:txBody>
          <a:bodyPr wrap="square" anchor="t" lIns="45720" rIns="45720" tIns="18288" bIns="18288">
            <a:spAutoFit/>
          </a:bodyPr>
          <a:lstStyle/>
          <a:p>
            <a:pPr algn="ctr"/>
            <a:r>
              <a:rPr sz="1050" b="1" i="0">
                <a:solidFill>
                  <a:srgbClr val="FFFFFF"/>
                </a:solidFill>
                <a:latin typeface="Calibri"/>
              </a:rPr>
              <a:t>RDS PostgreSQL 16</a:t>
            </a:r>
          </a:p>
        </p:txBody>
      </p:sp>
      <p:sp>
        <p:nvSpPr>
          <p:cNvPr id="14" name="TextBox 13"/>
          <p:cNvSpPr txBox="1"/>
          <p:nvPr/>
        </p:nvSpPr>
        <p:spPr>
          <a:xfrm>
            <a:off x="5102352" y="2331720"/>
            <a:ext cx="1225296" cy="246887"/>
          </a:xfrm>
          <a:prstGeom prst="rect">
            <a:avLst/>
          </a:prstGeom>
          <a:noFill/>
        </p:spPr>
        <p:txBody>
          <a:bodyPr wrap="square" anchor="t" lIns="45720" rIns="45720" tIns="18288" bIns="18288">
            <a:spAutoFit/>
          </a:bodyPr>
          <a:lstStyle/>
          <a:p>
            <a:pPr algn="ctr"/>
            <a:r>
              <a:rPr sz="850" b="0" i="0">
                <a:solidFill>
                  <a:srgbClr val="C9D6E5"/>
                </a:solidFill>
                <a:latin typeface="Calibri"/>
              </a:rPr>
              <a:t>stripe_oltp · stripe_olap</a:t>
            </a:r>
          </a:p>
        </p:txBody>
      </p:sp>
      <p:sp>
        <p:nvSpPr>
          <p:cNvPr id="15" name="Rounded Rectangle 14"/>
          <p:cNvSpPr/>
          <p:nvPr/>
        </p:nvSpPr>
        <p:spPr>
          <a:xfrm>
            <a:off x="5029200" y="2743200"/>
            <a:ext cx="1371600" cy="640080"/>
          </a:xfrm>
          <a:prstGeom prst="roundRect">
            <a:avLst>
              <a:gd name="adj" fmla="val 12000"/>
            </a:avLst>
          </a:prstGeom>
          <a:solidFill>
            <a:srgbClr val="143355"/>
          </a:solidFill>
          <a:ln w="12700">
            <a:solidFill>
              <a:srgbClr val="15BE5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02352" y="2816352"/>
            <a:ext cx="1225296" cy="310896"/>
          </a:xfrm>
          <a:prstGeom prst="rect">
            <a:avLst/>
          </a:prstGeom>
          <a:noFill/>
        </p:spPr>
        <p:txBody>
          <a:bodyPr wrap="square" anchor="t" lIns="45720" rIns="45720" tIns="18288" bIns="18288">
            <a:spAutoFit/>
          </a:bodyPr>
          <a:lstStyle/>
          <a:p>
            <a:pPr algn="ctr"/>
            <a:r>
              <a:rPr sz="1050" b="1" i="0">
                <a:solidFill>
                  <a:srgbClr val="FFFFFF"/>
                </a:solidFill>
                <a:latin typeface="Calibri"/>
              </a:rPr>
              <a:t>S3 chiffré</a:t>
            </a:r>
          </a:p>
        </p:txBody>
      </p:sp>
      <p:sp>
        <p:nvSpPr>
          <p:cNvPr id="17" name="TextBox 16"/>
          <p:cNvSpPr txBox="1"/>
          <p:nvPr/>
        </p:nvSpPr>
        <p:spPr>
          <a:xfrm>
            <a:off x="5102352" y="3108960"/>
            <a:ext cx="1225296" cy="228599"/>
          </a:xfrm>
          <a:prstGeom prst="rect">
            <a:avLst/>
          </a:prstGeom>
          <a:noFill/>
        </p:spPr>
        <p:txBody>
          <a:bodyPr wrap="square" anchor="t" lIns="45720" rIns="45720" tIns="18288" bIns="18288">
            <a:spAutoFit/>
          </a:bodyPr>
          <a:lstStyle/>
          <a:p>
            <a:pPr algn="ctr"/>
            <a:r>
              <a:rPr sz="850" b="0" i="0">
                <a:solidFill>
                  <a:srgbClr val="C9D6E5"/>
                </a:solidFill>
                <a:latin typeface="Calibri"/>
              </a:rPr>
              <a:t>runs/&lt;date&gt;/ data · results · ml</a:t>
            </a:r>
          </a:p>
        </p:txBody>
      </p:sp>
      <p:cxnSp>
        <p:nvCxnSpPr>
          <p:cNvPr id="18" name="Connector 17"/>
          <p:cNvCxnSpPr/>
          <p:nvPr/>
        </p:nvCxnSpPr>
        <p:spPr>
          <a:xfrm>
            <a:off x="2011680" y="2331720"/>
            <a:ext cx="457200" cy="0"/>
          </a:xfrm>
          <a:prstGeom prst="line">
            <a:avLst/>
          </a:prstGeom>
          <a:ln w="19050">
            <a:solidFill>
              <a:srgbClr val="00B4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572000" y="2286000"/>
            <a:ext cx="457200" cy="0"/>
          </a:xfrm>
          <a:prstGeom prst="line">
            <a:avLst/>
          </a:prstGeom>
          <a:ln w="19050">
            <a:solidFill>
              <a:srgbClr val="00B4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572000" y="3063240"/>
            <a:ext cx="457200" cy="0"/>
          </a:xfrm>
          <a:prstGeom prst="line">
            <a:avLst/>
          </a:prstGeom>
          <a:ln w="19050">
            <a:solidFill>
              <a:srgbClr val="15BE5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8640" y="3520440"/>
            <a:ext cx="5852160" cy="502920"/>
          </a:xfrm>
          <a:prstGeom prst="rect">
            <a:avLst/>
          </a:prstGeom>
          <a:noFill/>
        </p:spPr>
        <p:txBody>
          <a:bodyPr wrap="square" anchor="t" lIns="45720" rIns="45720" tIns="18288" bIns="18288">
            <a:spAutoFit/>
          </a:bodyPr>
          <a:lstStyle/>
          <a:p>
            <a:pPr algn="l"/>
            <a:r>
              <a:rPr sz="1000" b="0" i="1">
                <a:solidFill>
                  <a:srgbClr val="C9D6E5"/>
                </a:solidFill>
                <a:latin typeface="Calibri"/>
              </a:rPr>
              <a:t>Rôle d'instance pour S3 — aucune clé AWS · security groups sur une seule IP · secrets générés par Terraform, hors dépôt</a:t>
            </a:r>
          </a:p>
        </p:txBody>
      </p:sp>
      <p:sp>
        <p:nvSpPr>
          <p:cNvPr id="22" name="TextBox 21"/>
          <p:cNvSpPr txBox="1"/>
          <p:nvPr/>
        </p:nvSpPr>
        <p:spPr>
          <a:xfrm>
            <a:off x="548640" y="4069080"/>
            <a:ext cx="5852160" cy="365760"/>
          </a:xfrm>
          <a:prstGeom prst="rect">
            <a:avLst/>
          </a:prstGeom>
          <a:noFill/>
        </p:spPr>
        <p:txBody>
          <a:bodyPr wrap="square" anchor="t" lIns="45720" rIns="45720" tIns="18288" bIns="18288">
            <a:spAutoFit/>
          </a:bodyPr>
          <a:lstStyle/>
          <a:p>
            <a:pPr algn="l"/>
            <a:r>
              <a:rPr sz="1400" b="1" i="0">
                <a:solidFill>
                  <a:srgbClr val="00B4D8"/>
                </a:solidFill>
                <a:latin typeface="Calibri"/>
              </a:rPr>
              <a:t>DAG stripe_pipeline — 14 tâches, ≈ 25 s</a:t>
            </a:r>
          </a:p>
        </p:txBody>
      </p:sp>
      <p:sp>
        <p:nvSpPr>
          <p:cNvPr id="23" name="Rounded Rectangle 22"/>
          <p:cNvSpPr/>
          <p:nvPr/>
        </p:nvSpPr>
        <p:spPr>
          <a:xfrm>
            <a:off x="548640" y="4526280"/>
            <a:ext cx="658368" cy="457200"/>
          </a:xfrm>
          <a:prstGeom prst="roundRect">
            <a:avLst>
              <a:gd name="adj" fmla="val 20000"/>
            </a:avLst>
          </a:prstGeom>
          <a:solidFill>
            <a:srgbClr val="15BE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526280"/>
            <a:ext cx="658368" cy="457200"/>
          </a:xfrm>
          <a:prstGeom prst="rect">
            <a:avLst/>
          </a:prstGeom>
          <a:noFill/>
        </p:spPr>
        <p:txBody>
          <a:bodyPr wrap="square" anchor="ctr" lIns="9144" rIns="9144" tIns="18288" bIns="18288">
            <a:spAutoFit/>
          </a:bodyPr>
          <a:lstStyle/>
          <a:p>
            <a:pPr algn="ctr"/>
            <a:r>
              <a:rPr sz="850" b="1" i="0">
                <a:solidFill>
                  <a:srgbClr val="FFFFFF"/>
                </a:solidFill>
                <a:latin typeface="Calibri"/>
              </a:rPr>
              <a:t>générer</a:t>
            </a:r>
          </a:p>
        </p:txBody>
      </p:sp>
      <p:cxnSp>
        <p:nvCxnSpPr>
          <p:cNvPr id="25" name="Connector 24"/>
          <p:cNvCxnSpPr/>
          <p:nvPr/>
        </p:nvCxnSpPr>
        <p:spPr>
          <a:xfrm>
            <a:off x="1207007" y="4754880"/>
            <a:ext cx="91441" cy="0"/>
          </a:xfrm>
          <a:prstGeom prst="line">
            <a:avLst/>
          </a:prstGeom>
          <a:ln w="12700">
            <a:solidFill>
              <a:srgbClr val="9FB3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1298448" y="4526280"/>
            <a:ext cx="658368" cy="457200"/>
          </a:xfrm>
          <a:prstGeom prst="roundRect">
            <a:avLst>
              <a:gd name="adj" fmla="val 20000"/>
            </a:avLst>
          </a:prstGeom>
          <a:solidFill>
            <a:srgbClr val="15BE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98448" y="4526280"/>
            <a:ext cx="658368" cy="457200"/>
          </a:xfrm>
          <a:prstGeom prst="rect">
            <a:avLst/>
          </a:prstGeom>
          <a:noFill/>
        </p:spPr>
        <p:txBody>
          <a:bodyPr wrap="square" anchor="ctr" lIns="9144" rIns="9144" tIns="18288" bIns="18288">
            <a:spAutoFit/>
          </a:bodyPr>
          <a:lstStyle/>
          <a:p>
            <a:pPr algn="ctr"/>
            <a:r>
              <a:rPr sz="850" b="1" i="0">
                <a:solidFill>
                  <a:srgbClr val="FFFFFF"/>
                </a:solidFill>
                <a:latin typeface="Calibri"/>
              </a:rPr>
              <a:t>OLAP (dbt)</a:t>
            </a:r>
          </a:p>
        </p:txBody>
      </p:sp>
      <p:cxnSp>
        <p:nvCxnSpPr>
          <p:cNvPr id="28" name="Connector 27"/>
          <p:cNvCxnSpPr/>
          <p:nvPr/>
        </p:nvCxnSpPr>
        <p:spPr>
          <a:xfrm>
            <a:off x="1956815" y="4754880"/>
            <a:ext cx="91440" cy="0"/>
          </a:xfrm>
          <a:prstGeom prst="line">
            <a:avLst/>
          </a:prstGeom>
          <a:ln w="12700">
            <a:solidFill>
              <a:srgbClr val="9FB3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2048255" y="4526280"/>
            <a:ext cx="658368" cy="457200"/>
          </a:xfrm>
          <a:prstGeom prst="roundRect">
            <a:avLst>
              <a:gd name="adj" fmla="val 20000"/>
            </a:avLst>
          </a:prstGeom>
          <a:solidFill>
            <a:srgbClr val="15BE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048255" y="4526280"/>
            <a:ext cx="658368" cy="457200"/>
          </a:xfrm>
          <a:prstGeom prst="rect">
            <a:avLst/>
          </a:prstGeom>
          <a:noFill/>
        </p:spPr>
        <p:txBody>
          <a:bodyPr wrap="square" anchor="ctr" lIns="9144" rIns="9144" tIns="18288" bIns="18288">
            <a:spAutoFit/>
          </a:bodyPr>
          <a:lstStyle/>
          <a:p>
            <a:pPr algn="ctr"/>
            <a:r>
              <a:rPr sz="850" b="1" i="0">
                <a:solidFill>
                  <a:srgbClr val="FFFFFF"/>
                </a:solidFill>
                <a:latin typeface="Calibri"/>
              </a:rPr>
              <a:t>OLTP</a:t>
            </a:r>
          </a:p>
        </p:txBody>
      </p:sp>
      <p:cxnSp>
        <p:nvCxnSpPr>
          <p:cNvPr id="31" name="Connector 30"/>
          <p:cNvCxnSpPr/>
          <p:nvPr/>
        </p:nvCxnSpPr>
        <p:spPr>
          <a:xfrm>
            <a:off x="2706624" y="4754880"/>
            <a:ext cx="91440" cy="0"/>
          </a:xfrm>
          <a:prstGeom prst="line">
            <a:avLst/>
          </a:prstGeom>
          <a:ln w="12700">
            <a:solidFill>
              <a:srgbClr val="9FB3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2798063" y="4526280"/>
            <a:ext cx="658368" cy="457200"/>
          </a:xfrm>
          <a:prstGeom prst="roundRect">
            <a:avLst>
              <a:gd name="adj" fmla="val 20000"/>
            </a:avLst>
          </a:prstGeom>
          <a:solidFill>
            <a:srgbClr val="15BE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98063" y="4526280"/>
            <a:ext cx="658368" cy="457200"/>
          </a:xfrm>
          <a:prstGeom prst="rect">
            <a:avLst/>
          </a:prstGeom>
          <a:noFill/>
        </p:spPr>
        <p:txBody>
          <a:bodyPr wrap="square" anchor="ctr" lIns="9144" rIns="9144" tIns="18288" bIns="18288">
            <a:spAutoFit/>
          </a:bodyPr>
          <a:lstStyle/>
          <a:p>
            <a:pPr algn="ctr"/>
            <a:r>
              <a:rPr sz="850" b="1" i="0">
                <a:solidFill>
                  <a:srgbClr val="FFFFFF"/>
                </a:solidFill>
                <a:latin typeface="Calibri"/>
              </a:rPr>
              <a:t>NoSQL</a:t>
            </a:r>
          </a:p>
        </p:txBody>
      </p:sp>
      <p:cxnSp>
        <p:nvCxnSpPr>
          <p:cNvPr id="34" name="Connector 33"/>
          <p:cNvCxnSpPr/>
          <p:nvPr/>
        </p:nvCxnSpPr>
        <p:spPr>
          <a:xfrm>
            <a:off x="3456431" y="4754880"/>
            <a:ext cx="91440" cy="0"/>
          </a:xfrm>
          <a:prstGeom prst="line">
            <a:avLst/>
          </a:prstGeom>
          <a:ln w="12700">
            <a:solidFill>
              <a:srgbClr val="9FB3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3547871" y="4526280"/>
            <a:ext cx="658368" cy="457200"/>
          </a:xfrm>
          <a:prstGeom prst="roundRect">
            <a:avLst>
              <a:gd name="adj" fmla="val 20000"/>
            </a:avLst>
          </a:prstGeom>
          <a:solidFill>
            <a:srgbClr val="F58A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547871" y="4526280"/>
            <a:ext cx="658368" cy="457200"/>
          </a:xfrm>
          <a:prstGeom prst="rect">
            <a:avLst/>
          </a:prstGeom>
          <a:noFill/>
        </p:spPr>
        <p:txBody>
          <a:bodyPr wrap="square" anchor="ctr" lIns="9144" rIns="9144" tIns="18288" bIns="18288">
            <a:spAutoFit/>
          </a:bodyPr>
          <a:lstStyle/>
          <a:p>
            <a:pPr algn="ctr"/>
            <a:r>
              <a:rPr sz="850" b="1" i="0">
                <a:solidFill>
                  <a:srgbClr val="FFFFFF"/>
                </a:solidFill>
                <a:latin typeface="Calibri"/>
              </a:rPr>
              <a:t>10 contrôles</a:t>
            </a:r>
          </a:p>
        </p:txBody>
      </p:sp>
      <p:cxnSp>
        <p:nvCxnSpPr>
          <p:cNvPr id="37" name="Connector 36"/>
          <p:cNvCxnSpPr/>
          <p:nvPr/>
        </p:nvCxnSpPr>
        <p:spPr>
          <a:xfrm>
            <a:off x="4206240" y="4754880"/>
            <a:ext cx="91439" cy="0"/>
          </a:xfrm>
          <a:prstGeom prst="line">
            <a:avLst/>
          </a:prstGeom>
          <a:ln w="12700">
            <a:solidFill>
              <a:srgbClr val="9FB3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4297679" y="4526280"/>
            <a:ext cx="658368" cy="457200"/>
          </a:xfrm>
          <a:prstGeom prst="roundRect">
            <a:avLst>
              <a:gd name="adj" fmla="val 20000"/>
            </a:avLst>
          </a:prstGeom>
          <a:solidFill>
            <a:srgbClr val="15BE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97679" y="4526280"/>
            <a:ext cx="658368" cy="457200"/>
          </a:xfrm>
          <a:prstGeom prst="rect">
            <a:avLst/>
          </a:prstGeom>
          <a:noFill/>
        </p:spPr>
        <p:txBody>
          <a:bodyPr wrap="square" anchor="ctr" lIns="9144" rIns="9144" tIns="18288" bIns="18288">
            <a:spAutoFit/>
          </a:bodyPr>
          <a:lstStyle/>
          <a:p>
            <a:pPr algn="ctr"/>
            <a:r>
              <a:rPr sz="850" b="1" i="0">
                <a:solidFill>
                  <a:srgbClr val="FFFFFF"/>
                </a:solidFill>
                <a:latin typeface="Calibri"/>
              </a:rPr>
              <a:t>30 requêtes</a:t>
            </a:r>
          </a:p>
        </p:txBody>
      </p:sp>
      <p:cxnSp>
        <p:nvCxnSpPr>
          <p:cNvPr id="40" name="Connector 39"/>
          <p:cNvCxnSpPr/>
          <p:nvPr/>
        </p:nvCxnSpPr>
        <p:spPr>
          <a:xfrm>
            <a:off x="4956047" y="4754880"/>
            <a:ext cx="91440" cy="0"/>
          </a:xfrm>
          <a:prstGeom prst="line">
            <a:avLst/>
          </a:prstGeom>
          <a:ln w="12700">
            <a:solidFill>
              <a:srgbClr val="9FB3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5047488" y="4526280"/>
            <a:ext cx="658368" cy="457200"/>
          </a:xfrm>
          <a:prstGeom prst="roundRect">
            <a:avLst>
              <a:gd name="adj" fmla="val 20000"/>
            </a:avLst>
          </a:prstGeom>
          <a:solidFill>
            <a:srgbClr val="15BE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047488" y="4526280"/>
            <a:ext cx="658368" cy="457200"/>
          </a:xfrm>
          <a:prstGeom prst="rect">
            <a:avLst/>
          </a:prstGeom>
          <a:noFill/>
        </p:spPr>
        <p:txBody>
          <a:bodyPr wrap="square" anchor="ctr" lIns="9144" rIns="9144" tIns="18288" bIns="18288">
            <a:spAutoFit/>
          </a:bodyPr>
          <a:lstStyle/>
          <a:p>
            <a:pPr algn="ctr"/>
            <a:r>
              <a:rPr sz="850" b="1" i="0">
                <a:solidFill>
                  <a:srgbClr val="FFFFFF"/>
                </a:solidFill>
                <a:latin typeface="Calibri"/>
              </a:rPr>
              <a:t>modèle</a:t>
            </a:r>
          </a:p>
        </p:txBody>
      </p:sp>
      <p:cxnSp>
        <p:nvCxnSpPr>
          <p:cNvPr id="43" name="Connector 42"/>
          <p:cNvCxnSpPr/>
          <p:nvPr/>
        </p:nvCxnSpPr>
        <p:spPr>
          <a:xfrm>
            <a:off x="5705855" y="4754880"/>
            <a:ext cx="91440" cy="0"/>
          </a:xfrm>
          <a:prstGeom prst="line">
            <a:avLst/>
          </a:prstGeom>
          <a:ln w="12700">
            <a:solidFill>
              <a:srgbClr val="9FB3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5797296" y="4526280"/>
            <a:ext cx="658368" cy="457200"/>
          </a:xfrm>
          <a:prstGeom prst="roundRect">
            <a:avLst>
              <a:gd name="adj" fmla="val 20000"/>
            </a:avLst>
          </a:prstGeom>
          <a:solidFill>
            <a:srgbClr val="15BE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797296" y="4526280"/>
            <a:ext cx="658368" cy="457200"/>
          </a:xfrm>
          <a:prstGeom prst="rect">
            <a:avLst/>
          </a:prstGeom>
          <a:noFill/>
        </p:spPr>
        <p:txBody>
          <a:bodyPr wrap="square" anchor="ctr" lIns="9144" rIns="9144" tIns="18288" bIns="18288">
            <a:spAutoFit/>
          </a:bodyPr>
          <a:lstStyle/>
          <a:p>
            <a:pPr algn="ctr"/>
            <a:r>
              <a:rPr sz="850" b="1" i="0">
                <a:solidFill>
                  <a:srgbClr val="FFFFFF"/>
                </a:solidFill>
                <a:latin typeface="Calibri"/>
              </a:rPr>
              <a:t>S3</a:t>
            </a:r>
          </a:p>
        </p:txBody>
      </p:sp>
      <p:sp>
        <p:nvSpPr>
          <p:cNvPr id="46" name="TextBox 45"/>
          <p:cNvSpPr txBox="1"/>
          <p:nvPr/>
        </p:nvSpPr>
        <p:spPr>
          <a:xfrm>
            <a:off x="548640" y="5074920"/>
            <a:ext cx="5852160" cy="548640"/>
          </a:xfrm>
          <a:prstGeom prst="rect">
            <a:avLst/>
          </a:prstGeom>
          <a:noFill/>
        </p:spPr>
        <p:txBody>
          <a:bodyPr wrap="square" anchor="t" lIns="45720" rIns="45720" tIns="18288" bIns="18288">
            <a:spAutoFit/>
          </a:bodyPr>
          <a:lstStyle/>
          <a:p>
            <a:pPr algn="l"/>
            <a:r>
              <a:rPr sz="1000" b="0" i="0">
                <a:solidFill>
                  <a:srgbClr val="C9D6E5"/>
                </a:solidFill>
                <a:latin typeface="Calibri"/>
              </a:rPr>
              <a:t>Contrôles inter-systèmes bloquants : fact OLAP = transactions OLTP = ml_features Mongo · aucun email en clair · une version SCD2 courante par merchant.</a:t>
            </a:r>
          </a:p>
        </p:txBody>
      </p:sp>
      <p:sp>
        <p:nvSpPr>
          <p:cNvPr id="47" name="TextBox 46"/>
          <p:cNvSpPr txBox="1"/>
          <p:nvPr/>
        </p:nvSpPr>
        <p:spPr>
          <a:xfrm>
            <a:off x="6858000" y="1600200"/>
            <a:ext cx="2377440" cy="685800"/>
          </a:xfrm>
          <a:prstGeom prst="rect">
            <a:avLst/>
          </a:prstGeom>
          <a:noFill/>
        </p:spPr>
        <p:txBody>
          <a:bodyPr wrap="square" anchor="t" lIns="45720" rIns="45720" tIns="18288" bIns="18288">
            <a:spAutoFit/>
          </a:bodyPr>
          <a:lstStyle/>
          <a:p>
            <a:pPr algn="ctr"/>
            <a:r>
              <a:rPr sz="3600" b="1" i="0">
                <a:solidFill>
                  <a:srgbClr val="00B4D8"/>
                </a:solidFill>
                <a:latin typeface="Calibri"/>
              </a:rPr>
              <a:t>25 s</a:t>
            </a:r>
          </a:p>
        </p:txBody>
      </p:sp>
      <p:sp>
        <p:nvSpPr>
          <p:cNvPr id="48" name="TextBox 47"/>
          <p:cNvSpPr txBox="1"/>
          <p:nvPr/>
        </p:nvSpPr>
        <p:spPr>
          <a:xfrm>
            <a:off x="6858000" y="2286000"/>
            <a:ext cx="2377440" cy="548640"/>
          </a:xfrm>
          <a:prstGeom prst="rect">
            <a:avLst/>
          </a:prstGeom>
          <a:noFill/>
        </p:spPr>
        <p:txBody>
          <a:bodyPr wrap="square" anchor="t" lIns="45720" rIns="45720" tIns="18288" bIns="18288">
            <a:spAutoFit/>
          </a:bodyPr>
          <a:lstStyle/>
          <a:p>
            <a:pPr algn="ctr"/>
            <a:r>
              <a:rPr sz="1100" b="0" i="0">
                <a:solidFill>
                  <a:srgbClr val="C9D6E5"/>
                </a:solidFill>
                <a:latin typeface="Calibri"/>
              </a:rPr>
              <a:t>run complet, chaque nuit à 02:00 UTC</a:t>
            </a:r>
          </a:p>
        </p:txBody>
      </p:sp>
      <p:sp>
        <p:nvSpPr>
          <p:cNvPr id="49" name="TextBox 48"/>
          <p:cNvSpPr txBox="1"/>
          <p:nvPr/>
        </p:nvSpPr>
        <p:spPr>
          <a:xfrm>
            <a:off x="9326880" y="1600200"/>
            <a:ext cx="2377440" cy="685800"/>
          </a:xfrm>
          <a:prstGeom prst="rect">
            <a:avLst/>
          </a:prstGeom>
          <a:noFill/>
        </p:spPr>
        <p:txBody>
          <a:bodyPr wrap="square" anchor="t" lIns="45720" rIns="45720" tIns="18288" bIns="18288">
            <a:spAutoFit/>
          </a:bodyPr>
          <a:lstStyle/>
          <a:p>
            <a:pPr algn="ctr"/>
            <a:r>
              <a:rPr sz="3600" b="1" i="0">
                <a:solidFill>
                  <a:srgbClr val="00B4D8"/>
                </a:solidFill>
                <a:latin typeface="Calibri"/>
              </a:rPr>
              <a:t>10 / 10</a:t>
            </a:r>
          </a:p>
        </p:txBody>
      </p:sp>
      <p:sp>
        <p:nvSpPr>
          <p:cNvPr id="50" name="TextBox 49"/>
          <p:cNvSpPr txBox="1"/>
          <p:nvPr/>
        </p:nvSpPr>
        <p:spPr>
          <a:xfrm>
            <a:off x="9326880" y="2286000"/>
            <a:ext cx="2377440" cy="548640"/>
          </a:xfrm>
          <a:prstGeom prst="rect">
            <a:avLst/>
          </a:prstGeom>
          <a:noFill/>
        </p:spPr>
        <p:txBody>
          <a:bodyPr wrap="square" anchor="t" lIns="45720" rIns="45720" tIns="18288" bIns="18288">
            <a:spAutoFit/>
          </a:bodyPr>
          <a:lstStyle/>
          <a:p>
            <a:pPr algn="ctr"/>
            <a:r>
              <a:rPr sz="1100" b="0" i="0">
                <a:solidFill>
                  <a:srgbClr val="C9D6E5"/>
                </a:solidFill>
                <a:latin typeface="Calibri"/>
              </a:rPr>
              <a:t>contrôles de cohérence verts</a:t>
            </a:r>
          </a:p>
        </p:txBody>
      </p:sp>
      <p:sp>
        <p:nvSpPr>
          <p:cNvPr id="51" name="TextBox 50"/>
          <p:cNvSpPr txBox="1"/>
          <p:nvPr/>
        </p:nvSpPr>
        <p:spPr>
          <a:xfrm>
            <a:off x="6858000" y="2971800"/>
            <a:ext cx="2377440" cy="685800"/>
          </a:xfrm>
          <a:prstGeom prst="rect">
            <a:avLst/>
          </a:prstGeom>
          <a:noFill/>
        </p:spPr>
        <p:txBody>
          <a:bodyPr wrap="square" anchor="t" lIns="45720" rIns="45720" tIns="18288" bIns="18288">
            <a:spAutoFit/>
          </a:bodyPr>
          <a:lstStyle/>
          <a:p>
            <a:pPr algn="ctr"/>
            <a:r>
              <a:rPr sz="3600" b="1" i="0">
                <a:solidFill>
                  <a:srgbClr val="15BE53"/>
                </a:solidFill>
                <a:latin typeface="Calibri"/>
              </a:rPr>
              <a:t>30</a:t>
            </a:r>
          </a:p>
        </p:txBody>
      </p:sp>
      <p:sp>
        <p:nvSpPr>
          <p:cNvPr id="52" name="TextBox 51"/>
          <p:cNvSpPr txBox="1"/>
          <p:nvPr/>
        </p:nvSpPr>
        <p:spPr>
          <a:xfrm>
            <a:off x="6858000" y="3657600"/>
            <a:ext cx="2377440" cy="548640"/>
          </a:xfrm>
          <a:prstGeom prst="rect">
            <a:avLst/>
          </a:prstGeom>
          <a:noFill/>
        </p:spPr>
        <p:txBody>
          <a:bodyPr wrap="square" anchor="t" lIns="45720" rIns="45720" tIns="18288" bIns="18288">
            <a:spAutoFit/>
          </a:bodyPr>
          <a:lstStyle/>
          <a:p>
            <a:pPr algn="ctr"/>
            <a:r>
              <a:rPr sz="1100" b="0" i="0">
                <a:solidFill>
                  <a:srgbClr val="C9D6E5"/>
                </a:solidFill>
                <a:latin typeface="Calibri"/>
              </a:rPr>
              <a:t>requêtes exécutées, résultats archivés</a:t>
            </a:r>
          </a:p>
        </p:txBody>
      </p:sp>
      <p:sp>
        <p:nvSpPr>
          <p:cNvPr id="53" name="TextBox 52"/>
          <p:cNvSpPr txBox="1"/>
          <p:nvPr/>
        </p:nvSpPr>
        <p:spPr>
          <a:xfrm>
            <a:off x="9326880" y="2971800"/>
            <a:ext cx="2377440" cy="685800"/>
          </a:xfrm>
          <a:prstGeom prst="rect">
            <a:avLst/>
          </a:prstGeom>
          <a:noFill/>
        </p:spPr>
        <p:txBody>
          <a:bodyPr wrap="square" anchor="t" lIns="45720" rIns="45720" tIns="18288" bIns="18288">
            <a:spAutoFit/>
          </a:bodyPr>
          <a:lstStyle/>
          <a:p>
            <a:pPr algn="ctr"/>
            <a:r>
              <a:rPr sz="3600" b="1" i="0">
                <a:solidFill>
                  <a:srgbClr val="15BE53"/>
                </a:solidFill>
                <a:latin typeface="Calibri"/>
              </a:rPr>
              <a:t>0,43</a:t>
            </a:r>
          </a:p>
        </p:txBody>
      </p:sp>
      <p:sp>
        <p:nvSpPr>
          <p:cNvPr id="54" name="TextBox 53"/>
          <p:cNvSpPr txBox="1"/>
          <p:nvPr/>
        </p:nvSpPr>
        <p:spPr>
          <a:xfrm>
            <a:off x="9326880" y="3657600"/>
            <a:ext cx="2377440" cy="548640"/>
          </a:xfrm>
          <a:prstGeom prst="rect">
            <a:avLst/>
          </a:prstGeom>
          <a:noFill/>
        </p:spPr>
        <p:txBody>
          <a:bodyPr wrap="square" anchor="t" lIns="45720" rIns="45720" tIns="18288" bIns="18288">
            <a:spAutoFit/>
          </a:bodyPr>
          <a:lstStyle/>
          <a:p>
            <a:pPr algn="ctr"/>
            <a:r>
              <a:rPr sz="1100" b="0" i="0">
                <a:solidFill>
                  <a:srgbClr val="C9D6E5"/>
                </a:solidFill>
                <a:latin typeface="Calibri"/>
              </a:rPr>
              <a:t>AUC-PR du modèle de fraude (baseline 0,09)</a:t>
            </a:r>
          </a:p>
        </p:txBody>
      </p:sp>
      <p:sp>
        <p:nvSpPr>
          <p:cNvPr id="55" name="Rounded Rectangle 54"/>
          <p:cNvSpPr/>
          <p:nvPr/>
        </p:nvSpPr>
        <p:spPr>
          <a:xfrm>
            <a:off x="6858000" y="4434840"/>
            <a:ext cx="4846320" cy="1463040"/>
          </a:xfrm>
          <a:prstGeom prst="roundRect">
            <a:avLst>
              <a:gd name="adj" fmla="val 8000"/>
            </a:avLst>
          </a:prstGeom>
          <a:solidFill>
            <a:srgbClr val="143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040880" y="4526280"/>
            <a:ext cx="4572000" cy="320040"/>
          </a:xfrm>
          <a:prstGeom prst="rect">
            <a:avLst/>
          </a:prstGeom>
          <a:noFill/>
        </p:spPr>
        <p:txBody>
          <a:bodyPr wrap="square" anchor="t" lIns="45720" rIns="45720" tIns="18288" bIns="18288">
            <a:spAutoFit/>
          </a:bodyPr>
          <a:lstStyle/>
          <a:p>
            <a:pPr algn="l"/>
            <a:r>
              <a:rPr sz="1200" b="1" i="0">
                <a:solidFill>
                  <a:srgbClr val="F58A07"/>
                </a:solidFill>
                <a:latin typeface="Calibri"/>
              </a:rPr>
              <a:t>Écart assumé</a:t>
            </a:r>
          </a:p>
        </p:txBody>
      </p:sp>
      <p:sp>
        <p:nvSpPr>
          <p:cNvPr id="57" name="TextBox 56"/>
          <p:cNvSpPr txBox="1"/>
          <p:nvPr/>
        </p:nvSpPr>
        <p:spPr>
          <a:xfrm>
            <a:off x="7040880" y="4846320"/>
            <a:ext cx="4572000" cy="1005840"/>
          </a:xfrm>
          <a:prstGeom prst="rect">
            <a:avLst/>
          </a:prstGeom>
          <a:noFill/>
        </p:spPr>
        <p:txBody>
          <a:bodyPr wrap="square" anchor="t" lIns="45720" rIns="45720" tIns="18288" bIns="18288">
            <a:spAutoFit/>
          </a:bodyPr>
          <a:lstStyle/>
          <a:p>
            <a:pPr algn="l"/>
            <a:r>
              <a:rPr sz="1100" b="0" i="0">
                <a:solidFill>
                  <a:srgbClr val="FFFFFF"/>
                </a:solidFill>
                <a:latin typeface="Calibri"/>
              </a:rPr>
              <a:t>L'entrepôt de production est PostgreSQL sur RDS, pas Redshift : même star schema, même vue matérialisée, mêmes 10 requêtes. Le passage à Redshift est un changement de DDL et de connexion, pas de conception.</a:t>
            </a:r>
          </a:p>
        </p:txBody>
      </p:sp>
      <p:sp>
        <p:nvSpPr>
          <p:cNvPr id="58" name="TextBox 57"/>
          <p:cNvSpPr txBox="1"/>
          <p:nvPr/>
        </p:nvSpPr>
        <p:spPr>
          <a:xfrm>
            <a:off x="6858000" y="5989320"/>
            <a:ext cx="4846320" cy="320040"/>
          </a:xfrm>
          <a:prstGeom prst="rect">
            <a:avLst/>
          </a:prstGeom>
          <a:noFill/>
        </p:spPr>
        <p:txBody>
          <a:bodyPr wrap="square" anchor="t" lIns="45720" rIns="45720" tIns="18288" bIns="18288">
            <a:spAutoFit/>
          </a:bodyPr>
          <a:lstStyle/>
          <a:p>
            <a:pPr algn="r"/>
            <a:r>
              <a:rPr sz="1000" b="0" i="0">
                <a:solidFill>
                  <a:srgbClr val="9FB3C8"/>
                </a:solidFill>
                <a:latin typeface="Calibri"/>
              </a:rPr>
              <a:t>github.com/emelineroblot/jedha-stripe-project · vidéo du pipeline en production</a:t>
            </a:r>
          </a:p>
        </p:txBody>
      </p:sp>
      <p:sp>
        <p:nvSpPr>
          <p:cNvPr id="59" name="TextBox 58"/>
          <p:cNvSpPr txBox="1"/>
          <p:nvPr/>
        </p:nvSpPr>
        <p:spPr>
          <a:xfrm>
            <a:off x="548640" y="6446520"/>
            <a:ext cx="9144000" cy="274320"/>
          </a:xfrm>
          <a:prstGeom prst="rect">
            <a:avLst/>
          </a:prstGeom>
          <a:noFill/>
        </p:spPr>
        <p:txBody>
          <a:bodyPr wrap="square" anchor="t" lIns="45720" rIns="45720" tIns="18288" bIns="18288">
            <a:spAutoFit/>
          </a:bodyPr>
          <a:lstStyle/>
          <a:p>
            <a:pPr algn="l"/>
            <a:r>
              <a:rPr sz="900" b="0" i="0">
                <a:solidFill>
                  <a:srgbClr val="9FB3C8"/>
                </a:solidFill>
                <a:latin typeface="Calibri"/>
              </a:rPr>
              <a:t>Stripe — architecture de données · Emeline ROBLOT — Data Engineer · Septembre 2026</a:t>
            </a:r>
          </a:p>
        </p:txBody>
      </p:sp>
      <p:sp>
        <p:nvSpPr>
          <p:cNvPr id="60" name="TextBox 59"/>
          <p:cNvSpPr txBox="1"/>
          <p:nvPr/>
        </p:nvSpPr>
        <p:spPr>
          <a:xfrm>
            <a:off x="10698480" y="6446520"/>
            <a:ext cx="914400" cy="274320"/>
          </a:xfrm>
          <a:prstGeom prst="rect">
            <a:avLst/>
          </a:prstGeom>
          <a:noFill/>
        </p:spPr>
        <p:txBody>
          <a:bodyPr wrap="square" anchor="t" lIns="45720" rIns="45720" tIns="18288" bIns="18288">
            <a:spAutoFit/>
          </a:bodyPr>
          <a:lstStyle/>
          <a:p>
            <a:pPr algn="r"/>
            <a:r>
              <a:rPr sz="900" b="0" i="0">
                <a:solidFill>
                  <a:srgbClr val="9FB3C8"/>
                </a:solidFill>
                <a:latin typeface="Calibri"/>
              </a:rPr>
              <a:t>5 /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